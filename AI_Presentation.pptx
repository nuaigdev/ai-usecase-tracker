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73" r:id="rId12"/>
    <p:sldId id="265" r:id="rId13"/>
    <p:sldId id="268" r:id="rId14"/>
    <p:sldId id="269" r:id="rId15"/>
    <p:sldId id="267" r:id="rId16"/>
    <p:sldId id="270" r:id="rId17"/>
    <p:sldId id="271" r:id="rId18"/>
    <p:sldId id="274" r:id="rId19"/>
    <p:sldId id="275" r:id="rId20"/>
    <p:sldId id="276" r:id="rId29"/>
    <p:sldId id="277" r:id="rId31"/>
    <p:sldId id="278" r:id="rId30"/>
    <p:sldId id="279" r:id="rId3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" roundtripDataSignature="AMtx7mgxp8xAttbXCEu9wZX4OZM2C69U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AC324-8DC0-441D-9C23-DFED6A65A24D}" v="4" dt="2026-04-10T07:20:34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0" y="-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y Kashyap" userId="S::tanay.kashyap@nuaig.ai::40dafe88-74cf-46cb-b275-a3301fd52de4" providerId="AD" clId="Web-{FBF71DF5-A319-AEF1-618E-13636868271D}"/>
    <pc:docChg chg="modSld">
      <pc:chgData name="Tanay Kashyap" userId="S::tanay.kashyap@nuaig.ai::40dafe88-74cf-46cb-b275-a3301fd52de4" providerId="AD" clId="Web-{FBF71DF5-A319-AEF1-618E-13636868271D}" dt="2026-03-13T07:43:21.127" v="56"/>
      <pc:docMkLst>
        <pc:docMk/>
      </pc:docMkLst>
      <pc:sldChg chg="addSp delSp modSp">
        <pc:chgData name="Tanay Kashyap" userId="S::tanay.kashyap@nuaig.ai::40dafe88-74cf-46cb-b275-a3301fd52de4" providerId="AD" clId="Web-{FBF71DF5-A319-AEF1-618E-13636868271D}" dt="2026-03-13T07:43:21.127" v="56"/>
        <pc:sldMkLst>
          <pc:docMk/>
          <pc:sldMk cId="0" sldId="256"/>
        </pc:sldMkLst>
      </pc:sldChg>
      <pc:sldChg chg="delSp">
        <pc:chgData name="Tanay Kashyap" userId="S::tanay.kashyap@nuaig.ai::40dafe88-74cf-46cb-b275-a3301fd52de4" providerId="AD" clId="Web-{FBF71DF5-A319-AEF1-618E-13636868271D}" dt="2026-03-13T07:34:54.390" v="11"/>
        <pc:sldMkLst>
          <pc:docMk/>
          <pc:sldMk cId="0" sldId="258"/>
        </pc:sldMkLst>
      </pc:sldChg>
      <pc:sldChg chg="modSp">
        <pc:chgData name="Tanay Kashyap" userId="S::tanay.kashyap@nuaig.ai::40dafe88-74cf-46cb-b275-a3301fd52de4" providerId="AD" clId="Web-{FBF71DF5-A319-AEF1-618E-13636868271D}" dt="2026-03-13T07:34:27.046" v="6" actId="20577"/>
        <pc:sldMkLst>
          <pc:docMk/>
          <pc:sldMk cId="0" sldId="259"/>
        </pc:sldMkLst>
        <pc:spChg chg="mod">
          <ac:chgData name="Tanay Kashyap" userId="S::tanay.kashyap@nuaig.ai::40dafe88-74cf-46cb-b275-a3301fd52de4" providerId="AD" clId="Web-{FBF71DF5-A319-AEF1-618E-13636868271D}" dt="2026-03-13T07:34:04.812" v="2" actId="20577"/>
          <ac:spMkLst>
            <pc:docMk/>
            <pc:sldMk cId="0" sldId="259"/>
            <ac:spMk id="77" creationId="{00000000-0000-0000-0000-000000000000}"/>
          </ac:spMkLst>
        </pc:spChg>
        <pc:spChg chg="mod">
          <ac:chgData name="Tanay Kashyap" userId="S::tanay.kashyap@nuaig.ai::40dafe88-74cf-46cb-b275-a3301fd52de4" providerId="AD" clId="Web-{FBF71DF5-A319-AEF1-618E-13636868271D}" dt="2026-03-13T07:34:15.296" v="3"/>
          <ac:spMkLst>
            <pc:docMk/>
            <pc:sldMk cId="0" sldId="259"/>
            <ac:spMk id="81" creationId="{00000000-0000-0000-0000-000000000000}"/>
          </ac:spMkLst>
        </pc:spChg>
        <pc:spChg chg="mod">
          <ac:chgData name="Tanay Kashyap" userId="S::tanay.kashyap@nuaig.ai::40dafe88-74cf-46cb-b275-a3301fd52de4" providerId="AD" clId="Web-{FBF71DF5-A319-AEF1-618E-13636868271D}" dt="2026-03-13T07:34:27.046" v="6" actId="20577"/>
          <ac:spMkLst>
            <pc:docMk/>
            <pc:sldMk cId="0" sldId="259"/>
            <ac:spMk id="85" creationId="{00000000-0000-0000-0000-000000000000}"/>
          </ac:spMkLst>
        </pc:spChg>
      </pc:sldChg>
      <pc:sldChg chg="delSp modSp">
        <pc:chgData name="Tanay Kashyap" userId="S::tanay.kashyap@nuaig.ai::40dafe88-74cf-46cb-b275-a3301fd52de4" providerId="AD" clId="Web-{FBF71DF5-A319-AEF1-618E-13636868271D}" dt="2026-03-13T07:34:48.750" v="10"/>
        <pc:sldMkLst>
          <pc:docMk/>
          <pc:sldMk cId="0" sldId="260"/>
        </pc:sldMkLst>
        <pc:spChg chg="mod">
          <ac:chgData name="Tanay Kashyap" userId="S::tanay.kashyap@nuaig.ai::40dafe88-74cf-46cb-b275-a3301fd52de4" providerId="AD" clId="Web-{FBF71DF5-A319-AEF1-618E-13636868271D}" dt="2026-03-13T07:34:43.875" v="9" actId="20577"/>
          <ac:spMkLst>
            <pc:docMk/>
            <pc:sldMk cId="0" sldId="260"/>
            <ac:spMk id="95" creationId="{00000000-0000-0000-0000-000000000000}"/>
          </ac:spMkLst>
        </pc:spChg>
      </pc:sldChg>
      <pc:sldChg chg="modSp">
        <pc:chgData name="Tanay Kashyap" userId="S::tanay.kashyap@nuaig.ai::40dafe88-74cf-46cb-b275-a3301fd52de4" providerId="AD" clId="Web-{FBF71DF5-A319-AEF1-618E-13636868271D}" dt="2026-03-13T07:36:28.610" v="35" actId="20577"/>
        <pc:sldMkLst>
          <pc:docMk/>
          <pc:sldMk cId="0" sldId="261"/>
        </pc:sldMkLst>
        <pc:spChg chg="mod">
          <ac:chgData name="Tanay Kashyap" userId="S::tanay.kashyap@nuaig.ai::40dafe88-74cf-46cb-b275-a3301fd52de4" providerId="AD" clId="Web-{FBF71DF5-A319-AEF1-618E-13636868271D}" dt="2026-03-13T07:35:51.672" v="18" actId="20577"/>
          <ac:spMkLst>
            <pc:docMk/>
            <pc:sldMk cId="0" sldId="261"/>
            <ac:spMk id="114" creationId="{00000000-0000-0000-0000-000000000000}"/>
          </ac:spMkLst>
        </pc:spChg>
        <pc:spChg chg="mod">
          <ac:chgData name="Tanay Kashyap" userId="S::tanay.kashyap@nuaig.ai::40dafe88-74cf-46cb-b275-a3301fd52de4" providerId="AD" clId="Web-{FBF71DF5-A319-AEF1-618E-13636868271D}" dt="2026-03-13T07:35:27.125" v="15"/>
          <ac:spMkLst>
            <pc:docMk/>
            <pc:sldMk cId="0" sldId="261"/>
            <ac:spMk id="118" creationId="{00000000-0000-0000-0000-000000000000}"/>
          </ac:spMkLst>
        </pc:spChg>
        <pc:spChg chg="mod">
          <ac:chgData name="Tanay Kashyap" userId="S::tanay.kashyap@nuaig.ai::40dafe88-74cf-46cb-b275-a3301fd52de4" providerId="AD" clId="Web-{FBF71DF5-A319-AEF1-618E-13636868271D}" dt="2026-03-13T07:36:28.610" v="35" actId="20577"/>
          <ac:spMkLst>
            <pc:docMk/>
            <pc:sldMk cId="0" sldId="261"/>
            <ac:spMk id="122" creationId="{00000000-0000-0000-0000-000000000000}"/>
          </ac:spMkLst>
        </pc:spChg>
      </pc:sldChg>
      <pc:sldChg chg="delSp">
        <pc:chgData name="Tanay Kashyap" userId="S::tanay.kashyap@nuaig.ai::40dafe88-74cf-46cb-b275-a3301fd52de4" providerId="AD" clId="Web-{FBF71DF5-A319-AEF1-618E-13636868271D}" dt="2026-03-13T07:36:45.032" v="36"/>
        <pc:sldMkLst>
          <pc:docMk/>
          <pc:sldMk cId="0" sldId="262"/>
        </pc:sldMkLst>
      </pc:sldChg>
      <pc:sldChg chg="modSp">
        <pc:chgData name="Tanay Kashyap" userId="S::tanay.kashyap@nuaig.ai::40dafe88-74cf-46cb-b275-a3301fd52de4" providerId="AD" clId="Web-{FBF71DF5-A319-AEF1-618E-13636868271D}" dt="2026-03-13T07:37:07.829" v="39" actId="20577"/>
        <pc:sldMkLst>
          <pc:docMk/>
          <pc:sldMk cId="0" sldId="264"/>
        </pc:sldMkLst>
        <pc:spChg chg="mod">
          <ac:chgData name="Tanay Kashyap" userId="S::tanay.kashyap@nuaig.ai::40dafe88-74cf-46cb-b275-a3301fd52de4" providerId="AD" clId="Web-{FBF71DF5-A319-AEF1-618E-13636868271D}" dt="2026-03-13T07:37:07.829" v="39" actId="20577"/>
          <ac:spMkLst>
            <pc:docMk/>
            <pc:sldMk cId="0" sldId="264"/>
            <ac:spMk id="214" creationId="{00000000-0000-0000-0000-000000000000}"/>
          </ac:spMkLst>
        </pc:spChg>
      </pc:sldChg>
      <pc:sldChg chg="modSp">
        <pc:chgData name="Tanay Kashyap" userId="S::tanay.kashyap@nuaig.ai::40dafe88-74cf-46cb-b275-a3301fd52de4" providerId="AD" clId="Web-{FBF71DF5-A319-AEF1-618E-13636868271D}" dt="2026-03-13T07:37:28.517" v="42" actId="20577"/>
        <pc:sldMkLst>
          <pc:docMk/>
          <pc:sldMk cId="0" sldId="265"/>
        </pc:sldMkLst>
        <pc:spChg chg="mod">
          <ac:chgData name="Tanay Kashyap" userId="S::tanay.kashyap@nuaig.ai::40dafe88-74cf-46cb-b275-a3301fd52de4" providerId="AD" clId="Web-{FBF71DF5-A319-AEF1-618E-13636868271D}" dt="2026-03-13T07:37:28.517" v="42" actId="20577"/>
          <ac:spMkLst>
            <pc:docMk/>
            <pc:sldMk cId="0" sldId="265"/>
            <ac:spMk id="256" creationId="{00000000-0000-0000-0000-000000000000}"/>
          </ac:spMkLst>
        </pc:spChg>
      </pc:sldChg>
      <pc:sldChg chg="modSp">
        <pc:chgData name="Tanay Kashyap" userId="S::tanay.kashyap@nuaig.ai::40dafe88-74cf-46cb-b275-a3301fd52de4" providerId="AD" clId="Web-{FBF71DF5-A319-AEF1-618E-13636868271D}" dt="2026-03-13T07:37:45.579" v="44" actId="20577"/>
        <pc:sldMkLst>
          <pc:docMk/>
          <pc:sldMk cId="0" sldId="266"/>
        </pc:sldMkLst>
        <pc:spChg chg="mod">
          <ac:chgData name="Tanay Kashyap" userId="S::tanay.kashyap@nuaig.ai::40dafe88-74cf-46cb-b275-a3301fd52de4" providerId="AD" clId="Web-{FBF71DF5-A319-AEF1-618E-13636868271D}" dt="2026-03-13T07:37:45.579" v="44" actId="20577"/>
          <ac:spMkLst>
            <pc:docMk/>
            <pc:sldMk cId="0" sldId="266"/>
            <ac:spMk id="298" creationId="{00000000-0000-0000-0000-000000000000}"/>
          </ac:spMkLst>
        </pc:spChg>
      </pc:sldChg>
      <pc:sldChg chg="modSp">
        <pc:chgData name="Tanay Kashyap" userId="S::tanay.kashyap@nuaig.ai::40dafe88-74cf-46cb-b275-a3301fd52de4" providerId="AD" clId="Web-{FBF71DF5-A319-AEF1-618E-13636868271D}" dt="2026-03-13T07:38:24.642" v="46" actId="20577"/>
        <pc:sldMkLst>
          <pc:docMk/>
          <pc:sldMk cId="0" sldId="267"/>
        </pc:sldMkLst>
        <pc:spChg chg="mod">
          <ac:chgData name="Tanay Kashyap" userId="S::tanay.kashyap@nuaig.ai::40dafe88-74cf-46cb-b275-a3301fd52de4" providerId="AD" clId="Web-{FBF71DF5-A319-AEF1-618E-13636868271D}" dt="2026-03-13T07:38:24.642" v="46" actId="20577"/>
          <ac:spMkLst>
            <pc:docMk/>
            <pc:sldMk cId="0" sldId="267"/>
            <ac:spMk id="340" creationId="{00000000-0000-0000-0000-000000000000}"/>
          </ac:spMkLst>
        </pc:spChg>
      </pc:sldChg>
      <pc:sldChg chg="modSp">
        <pc:chgData name="Tanay Kashyap" userId="S::tanay.kashyap@nuaig.ai::40dafe88-74cf-46cb-b275-a3301fd52de4" providerId="AD" clId="Web-{FBF71DF5-A319-AEF1-618E-13636868271D}" dt="2026-03-13T07:38:45.627" v="49" actId="20577"/>
        <pc:sldMkLst>
          <pc:docMk/>
          <pc:sldMk cId="0" sldId="268"/>
        </pc:sldMkLst>
        <pc:spChg chg="mod">
          <ac:chgData name="Tanay Kashyap" userId="S::tanay.kashyap@nuaig.ai::40dafe88-74cf-46cb-b275-a3301fd52de4" providerId="AD" clId="Web-{FBF71DF5-A319-AEF1-618E-13636868271D}" dt="2026-03-13T07:38:45.627" v="49" actId="20577"/>
          <ac:spMkLst>
            <pc:docMk/>
            <pc:sldMk cId="0" sldId="268"/>
            <ac:spMk id="382" creationId="{00000000-0000-0000-0000-000000000000}"/>
          </ac:spMkLst>
        </pc:spChg>
      </pc:sldChg>
      <pc:sldChg chg="modSp">
        <pc:chgData name="Tanay Kashyap" userId="S::tanay.kashyap@nuaig.ai::40dafe88-74cf-46cb-b275-a3301fd52de4" providerId="AD" clId="Web-{FBF71DF5-A319-AEF1-618E-13636868271D}" dt="2026-03-13T07:39:01.236" v="52" actId="20577"/>
        <pc:sldMkLst>
          <pc:docMk/>
          <pc:sldMk cId="0" sldId="269"/>
        </pc:sldMkLst>
        <pc:spChg chg="mod">
          <ac:chgData name="Tanay Kashyap" userId="S::tanay.kashyap@nuaig.ai::40dafe88-74cf-46cb-b275-a3301fd52de4" providerId="AD" clId="Web-{FBF71DF5-A319-AEF1-618E-13636868271D}" dt="2026-03-13T07:39:01.236" v="52" actId="20577"/>
          <ac:spMkLst>
            <pc:docMk/>
            <pc:sldMk cId="0" sldId="269"/>
            <ac:spMk id="424" creationId="{00000000-0000-0000-0000-000000000000}"/>
          </ac:spMkLst>
        </pc:spChg>
      </pc:sldChg>
      <pc:sldChg chg="delSp">
        <pc:chgData name="Tanay Kashyap" userId="S::tanay.kashyap@nuaig.ai::40dafe88-74cf-46cb-b275-a3301fd52de4" providerId="AD" clId="Web-{FBF71DF5-A319-AEF1-618E-13636868271D}" dt="2026-03-13T07:39:09.345" v="53"/>
        <pc:sldMkLst>
          <pc:docMk/>
          <pc:sldMk cId="0" sldId="270"/>
        </pc:sldMkLst>
      </pc:sldChg>
    </pc:docChg>
  </pc:docChgLst>
  <pc:docChgLst>
    <pc:chgData name="Raj Vatnani" userId="862701aa-bbbe-4378-b03b-f5f730f44baa" providerId="ADAL" clId="{21FB6B75-DF2A-4B85-9D3B-414E787F7E45}"/>
    <pc:docChg chg="undo custSel modSld">
      <pc:chgData name="Raj Vatnani" userId="862701aa-bbbe-4378-b03b-f5f730f44baa" providerId="ADAL" clId="{21FB6B75-DF2A-4B85-9D3B-414E787F7E45}" dt="2026-04-10T07:20:52.014" v="44" actId="313"/>
      <pc:docMkLst>
        <pc:docMk/>
      </pc:docMkLst>
      <pc:sldChg chg="addSp modSp mod">
        <pc:chgData name="Raj Vatnani" userId="862701aa-bbbe-4378-b03b-f5f730f44baa" providerId="ADAL" clId="{21FB6B75-DF2A-4B85-9D3B-414E787F7E45}" dt="2026-04-10T07:20:52.014" v="44" actId="313"/>
        <pc:sldMkLst>
          <pc:docMk/>
          <pc:sldMk cId="0" sldId="257"/>
        </pc:sldMkLst>
        <pc:spChg chg="add mod">
          <ac:chgData name="Raj Vatnani" userId="862701aa-bbbe-4378-b03b-f5f730f44baa" providerId="ADAL" clId="{21FB6B75-DF2A-4B85-9D3B-414E787F7E45}" dt="2026-04-10T07:17:28.004" v="1" actId="1076"/>
          <ac:spMkLst>
            <pc:docMk/>
            <pc:sldMk cId="0" sldId="257"/>
            <ac:spMk id="2" creationId="{B30F6AB5-1E57-EC8F-8510-9E56101E74D4}"/>
          </ac:spMkLst>
        </pc:spChg>
        <pc:spChg chg="add mod">
          <ac:chgData name="Raj Vatnani" userId="862701aa-bbbe-4378-b03b-f5f730f44baa" providerId="ADAL" clId="{21FB6B75-DF2A-4B85-9D3B-414E787F7E45}" dt="2026-04-10T07:17:28.004" v="1" actId="1076"/>
          <ac:spMkLst>
            <pc:docMk/>
            <pc:sldMk cId="0" sldId="257"/>
            <ac:spMk id="3" creationId="{6DEF6478-2601-0691-01ED-729E5EFA8E9D}"/>
          </ac:spMkLst>
        </pc:spChg>
        <pc:spChg chg="add mod">
          <ac:chgData name="Raj Vatnani" userId="862701aa-bbbe-4378-b03b-f5f730f44baa" providerId="ADAL" clId="{21FB6B75-DF2A-4B85-9D3B-414E787F7E45}" dt="2026-04-10T07:17:43.983" v="4" actId="20577"/>
          <ac:spMkLst>
            <pc:docMk/>
            <pc:sldMk cId="0" sldId="257"/>
            <ac:spMk id="4" creationId="{47382294-DE4D-B05E-E8AD-7D2E95DA82EB}"/>
          </ac:spMkLst>
        </pc:spChg>
        <pc:spChg chg="add 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5" creationId="{2794A50F-F120-CF06-5DF4-CDD8D971B1E9}"/>
          </ac:spMkLst>
        </pc:spChg>
        <pc:spChg chg="add mod">
          <ac:chgData name="Raj Vatnani" userId="862701aa-bbbe-4378-b03b-f5f730f44baa" providerId="ADAL" clId="{21FB6B75-DF2A-4B85-9D3B-414E787F7E45}" dt="2026-04-10T07:20:52.014" v="44" actId="313"/>
          <ac:spMkLst>
            <pc:docMk/>
            <pc:sldMk cId="0" sldId="257"/>
            <ac:spMk id="6" creationId="{91D08E35-F40C-E6F5-DE83-7E67B2BE5F5E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9:39.939" v="41" actId="1076"/>
          <ac:spMkLst>
            <pc:docMk/>
            <pc:sldMk cId="0" sldId="257"/>
            <ac:spMk id="45" creationId="{00000000-0000-0000-0000-000000000000}"/>
          </ac:spMkLst>
        </pc:spChg>
        <pc:spChg chg="mod">
          <ac:chgData name="Raj Vatnani" userId="862701aa-bbbe-4378-b03b-f5f730f44baa" providerId="ADAL" clId="{21FB6B75-DF2A-4B85-9D3B-414E787F7E45}" dt="2026-04-10T07:18:33.622" v="34" actId="20577"/>
          <ac:spMkLst>
            <pc:docMk/>
            <pc:sldMk cId="0" sldId="257"/>
            <ac:spMk id="47" creationId="{00000000-0000-0000-0000-000000000000}"/>
          </ac:spMkLst>
        </pc:spChg>
      </pc:sldChg>
    </pc:docChg>
  </pc:docChgLst>
  <pc:docChgLst>
    <pc:chgData name="Tanay Kashyap" userId="S::tanay.kashyap@nuaig.ai::40dafe88-74cf-46cb-b275-a3301fd52de4" providerId="AD" clId="Web-{566008FA-CC95-0C94-038B-85CC8C313F4C}"/>
    <pc:docChg chg="addSld delSld modSld sldOrd">
      <pc:chgData name="Tanay Kashyap" userId="S::tanay.kashyap@nuaig.ai::40dafe88-74cf-46cb-b275-a3301fd52de4" providerId="AD" clId="Web-{566008FA-CC95-0C94-038B-85CC8C313F4C}" dt="2026-03-13T08:28:00.637" v="51" actId="1076"/>
      <pc:docMkLst>
        <pc:docMk/>
      </pc:docMkLst>
      <pc:sldChg chg="addSp delSp modSp add del">
        <pc:chgData name="Tanay Kashyap" userId="S::tanay.kashyap@nuaig.ai::40dafe88-74cf-46cb-b275-a3301fd52de4" providerId="AD" clId="Web-{566008FA-CC95-0C94-038B-85CC8C313F4C}" dt="2026-03-13T08:28:00.637" v="51" actId="1076"/>
        <pc:sldMkLst>
          <pc:docMk/>
          <pc:sldMk cId="0" sldId="263"/>
        </pc:sldMkLst>
        <pc:spChg chg="mod">
          <ac:chgData name="Tanay Kashyap" userId="S::tanay.kashyap@nuaig.ai::40dafe88-74cf-46cb-b275-a3301fd52de4" providerId="AD" clId="Web-{566008FA-CC95-0C94-038B-85CC8C313F4C}" dt="2026-03-13T08:18:44.914" v="21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Tanay Kashyap" userId="S::tanay.kashyap@nuaig.ai::40dafe88-74cf-46cb-b275-a3301fd52de4" providerId="AD" clId="Web-{566008FA-CC95-0C94-038B-85CC8C313F4C}" dt="2026-03-13T08:28:00.637" v="51" actId="1076"/>
          <ac:spMkLst>
            <pc:docMk/>
            <pc:sldMk cId="0" sldId="263"/>
            <ac:spMk id="21" creationId="{00000000-0000-0000-0000-000000000000}"/>
          </ac:spMkLst>
        </pc:spChg>
      </pc:sldChg>
      <pc:sldChg chg="ord">
        <pc:chgData name="Tanay Kashyap" userId="S::tanay.kashyap@nuaig.ai::40dafe88-74cf-46cb-b275-a3301fd52de4" providerId="AD" clId="Web-{566008FA-CC95-0C94-038B-85CC8C313F4C}" dt="2026-03-13T08:20:12.821" v="36"/>
        <pc:sldMkLst>
          <pc:docMk/>
          <pc:sldMk cId="0" sldId="264"/>
        </pc:sldMkLst>
      </pc:sldChg>
      <pc:sldChg chg="ord">
        <pc:chgData name="Tanay Kashyap" userId="S::tanay.kashyap@nuaig.ai::40dafe88-74cf-46cb-b275-a3301fd52de4" providerId="AD" clId="Web-{566008FA-CC95-0C94-038B-85CC8C313F4C}" dt="2026-03-13T08:20:27.915" v="37"/>
        <pc:sldMkLst>
          <pc:docMk/>
          <pc:sldMk cId="0" sldId="265"/>
        </pc:sldMkLst>
      </pc:sldChg>
      <pc:sldChg chg="ord">
        <pc:chgData name="Tanay Kashyap" userId="S::tanay.kashyap@nuaig.ai::40dafe88-74cf-46cb-b275-a3301fd52de4" providerId="AD" clId="Web-{566008FA-CC95-0C94-038B-85CC8C313F4C}" dt="2026-03-13T08:14:02.381" v="9"/>
        <pc:sldMkLst>
          <pc:docMk/>
          <pc:sldMk cId="0" sldId="266"/>
        </pc:sldMkLst>
      </pc:sldChg>
      <pc:sldChg chg="modSp">
        <pc:chgData name="Tanay Kashyap" userId="S::tanay.kashyap@nuaig.ai::40dafe88-74cf-46cb-b275-a3301fd52de4" providerId="AD" clId="Web-{566008FA-CC95-0C94-038B-85CC8C313F4C}" dt="2026-03-13T08:24:53.460" v="45" actId="20577"/>
        <pc:sldMkLst>
          <pc:docMk/>
          <pc:sldMk cId="0" sldId="267"/>
        </pc:sldMkLst>
        <pc:spChg chg="mod">
          <ac:chgData name="Tanay Kashyap" userId="S::tanay.kashyap@nuaig.ai::40dafe88-74cf-46cb-b275-a3301fd52de4" providerId="AD" clId="Web-{566008FA-CC95-0C94-038B-85CC8C313F4C}" dt="2026-03-13T08:23:48.520" v="41" actId="14100"/>
          <ac:spMkLst>
            <pc:docMk/>
            <pc:sldMk cId="0" sldId="267"/>
            <ac:spMk id="321" creationId="{00000000-0000-0000-0000-000000000000}"/>
          </ac:spMkLst>
        </pc:spChg>
        <pc:spChg chg="mod">
          <ac:chgData name="Tanay Kashyap" userId="S::tanay.kashyap@nuaig.ai::40dafe88-74cf-46cb-b275-a3301fd52de4" providerId="AD" clId="Web-{566008FA-CC95-0C94-038B-85CC8C313F4C}" dt="2026-03-13T08:24:35.647" v="44"/>
          <ac:spMkLst>
            <pc:docMk/>
            <pc:sldMk cId="0" sldId="267"/>
            <ac:spMk id="324" creationId="{00000000-0000-0000-0000-000000000000}"/>
          </ac:spMkLst>
        </pc:spChg>
        <pc:spChg chg="mod">
          <ac:chgData name="Tanay Kashyap" userId="S::tanay.kashyap@nuaig.ai::40dafe88-74cf-46cb-b275-a3301fd52de4" providerId="AD" clId="Web-{566008FA-CC95-0C94-038B-85CC8C313F4C}" dt="2026-03-13T08:24:53.460" v="45" actId="20577"/>
          <ac:spMkLst>
            <pc:docMk/>
            <pc:sldMk cId="0" sldId="267"/>
            <ac:spMk id="327" creationId="{00000000-0000-0000-0000-000000000000}"/>
          </ac:spMkLst>
        </pc:spChg>
      </pc:sldChg>
      <pc:sldChg chg="ord">
        <pc:chgData name="Tanay Kashyap" userId="S::tanay.kashyap@nuaig.ai::40dafe88-74cf-46cb-b275-a3301fd52de4" providerId="AD" clId="Web-{566008FA-CC95-0C94-038B-85CC8C313F4C}" dt="2026-03-13T08:17:03.397" v="15"/>
        <pc:sldMkLst>
          <pc:docMk/>
          <pc:sldMk cId="0" sldId="268"/>
        </pc:sldMkLst>
      </pc:sldChg>
      <pc:sldChg chg="ord">
        <pc:chgData name="Tanay Kashyap" userId="S::tanay.kashyap@nuaig.ai::40dafe88-74cf-46cb-b275-a3301fd52de4" providerId="AD" clId="Web-{566008FA-CC95-0C94-038B-85CC8C313F4C}" dt="2026-03-13T08:17:40.054" v="16"/>
        <pc:sldMkLst>
          <pc:docMk/>
          <pc:sldMk cId="0" sldId="269"/>
        </pc:sldMkLst>
      </pc:sldChg>
      <pc:sldChg chg="modSp add ord">
        <pc:chgData name="Tanay Kashyap" userId="S::tanay.kashyap@nuaig.ai::40dafe88-74cf-46cb-b275-a3301fd52de4" providerId="AD" clId="Web-{566008FA-CC95-0C94-038B-85CC8C313F4C}" dt="2026-03-13T08:18:14.601" v="18"/>
        <pc:sldMkLst>
          <pc:docMk/>
          <pc:sldMk cId="279076965" sldId="273"/>
        </pc:sldMkLst>
        <pc:spChg chg="mod">
          <ac:chgData name="Tanay Kashyap" userId="S::tanay.kashyap@nuaig.ai::40dafe88-74cf-46cb-b275-a3301fd52de4" providerId="AD" clId="Web-{566008FA-CC95-0C94-038B-85CC8C313F4C}" dt="2026-03-13T08:02:03.831" v="6" actId="20577"/>
          <ac:spMkLst>
            <pc:docMk/>
            <pc:sldMk cId="279076965" sldId="273"/>
            <ac:spMk id="34" creationId="{00000000-0000-0000-0000-000000000000}"/>
          </ac:spMkLst>
        </pc:spChg>
      </pc:sldChg>
      <pc:sldMasterChg chg="addSldLayout">
        <pc:chgData name="Tanay Kashyap" userId="S::tanay.kashyap@nuaig.ai::40dafe88-74cf-46cb-b275-a3301fd52de4" providerId="AD" clId="Web-{566008FA-CC95-0C94-038B-85CC8C313F4C}" dt="2026-03-13T08:00:52.205" v="0"/>
        <pc:sldMasterMkLst>
          <pc:docMk/>
          <pc:sldMasterMk cId="0" sldId="2147483648"/>
        </pc:sldMasterMkLst>
        <pc:sldLayoutChg chg="add">
          <pc:chgData name="Tanay Kashyap" userId="S::tanay.kashyap@nuaig.ai::40dafe88-74cf-46cb-b275-a3301fd52de4" providerId="AD" clId="Web-{566008FA-CC95-0C94-038B-85CC8C313F4C}" dt="2026-03-13T08:00:52.205" v="0"/>
          <pc:sldLayoutMkLst>
            <pc:docMk/>
            <pc:sldMasterMk cId="0" sldId="2147483648"/>
            <pc:sldLayoutMk cId="3488440614" sldId="2147483650"/>
          </pc:sldLayoutMkLst>
        </pc:sldLayoutChg>
      </pc:sldMaster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44061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5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65760" y="3657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B8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DB8D8"/>
                </a:solidFill>
                <a:latin typeface="Calibri"/>
                <a:ea typeface="Calibri"/>
                <a:cs typeface="Calibri"/>
                <a:sym typeface="Calibri"/>
              </a:rPr>
              <a:t>AI-POWERED SOLUTIONS FOR SENIOR LIVING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914400"/>
            <a:ext cx="64008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Agents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23774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8D8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B0C8D8"/>
                </a:solidFill>
                <a:latin typeface="Calibri"/>
                <a:ea typeface="Calibri"/>
                <a:cs typeface="Calibri"/>
                <a:sym typeface="Calibri"/>
              </a:rPr>
              <a:t>Reducing Caregiver Burnout Through Intelligent Automation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365760" y="3063240"/>
            <a:ext cx="5029200" cy="0"/>
          </a:xfrm>
          <a:prstGeom prst="straightConnector1">
            <a:avLst/>
          </a:prstGeom>
          <a:noFill/>
          <a:ln w="254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hdr_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hdr_title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200" name="c1_01_bg"/>
          <p:cNvSpPr/>
          <p:nvPr/>
        </p:nvSpPr>
        <p:spPr>
          <a:xfrm>
            <a:off x="228600" y="980000"/>
            <a:ext cx="4115880" cy="640080"/>
          </a:xfrm>
          <a:prstGeom prst="rect">
            <a:avLst/>
          </a:prstGeom>
          <a:solidFill>
            <a:srgbClr val="EAF2FA"/>
          </a:solidFill>
          <a:ln w="1270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1" name="c1_01_num_bg"/>
          <p:cNvSpPr/>
          <p:nvPr/>
        </p:nvSpPr>
        <p:spPr>
          <a:xfrm>
            <a:off x="228600" y="980000"/>
            <a:ext cx="594360" cy="6400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c1_01_num"/>
          <p:cNvSpPr/>
          <p:nvPr/>
        </p:nvSpPr>
        <p:spPr>
          <a:xfrm>
            <a:off x="228600" y="1098872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D7A6E"/>
                </a:solidFill>
                <a:latin typeface="Calibri"/>
              </a:rPr>
              <a:t>01</a:t>
            </a:r>
          </a:p>
        </p:txBody>
      </p:sp>
      <p:sp>
        <p:nvSpPr>
          <p:cNvPr id="203" name="c1_01_title"/>
          <p:cNvSpPr/>
          <p:nvPr/>
        </p:nvSpPr>
        <p:spPr>
          <a:xfrm>
            <a:off x="959760" y="1034864"/>
            <a:ext cx="338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332"/>
                </a:solidFill>
                <a:latin typeface="Calibri"/>
              </a:rPr>
              <a:t>AI-Powered Contract Management</a:t>
            </a:r>
          </a:p>
        </p:txBody>
      </p:sp>
      <p:sp>
        <p:nvSpPr>
          <p:cNvPr id="204" name="c1_01_sub"/>
          <p:cNvSpPr/>
          <p:nvPr/>
        </p:nvSpPr>
        <p:spPr>
          <a:xfrm>
            <a:off x="959760" y="1318328"/>
            <a:ext cx="338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Calibri"/>
              </a:rPr>
              <a:t>Automated extraction, tracking &amp; compliance alerts</a:t>
            </a:r>
          </a:p>
        </p:txBody>
      </p:sp>
      <p:sp>
        <p:nvSpPr>
          <p:cNvPr id="210" name="c1_02_bg"/>
          <p:cNvSpPr/>
          <p:nvPr/>
        </p:nvSpPr>
        <p:spPr>
          <a:xfrm>
            <a:off x="228600" y="1680000"/>
            <a:ext cx="4115880" cy="640080"/>
          </a:xfrm>
          <a:prstGeom prst="rect">
            <a:avLst/>
          </a:prstGeom>
          <a:solidFill>
            <a:srgbClr val="E8F5F3"/>
          </a:solidFill>
          <a:ln w="12700">
            <a:solidFill>
              <a:srgbClr val="C0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1" name="c1_02_num_bg"/>
          <p:cNvSpPr/>
          <p:nvPr/>
        </p:nvSpPr>
        <p:spPr>
          <a:xfrm>
            <a:off x="228600" y="1680000"/>
            <a:ext cx="594360" cy="6400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c1_02_num"/>
          <p:cNvSpPr/>
          <p:nvPr/>
        </p:nvSpPr>
        <p:spPr>
          <a:xfrm>
            <a:off x="228600" y="1798872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D7A6E"/>
                </a:solidFill>
                <a:latin typeface="Calibri"/>
              </a:rPr>
              <a:t>02</a:t>
            </a:r>
          </a:p>
        </p:txBody>
      </p:sp>
      <p:sp>
        <p:nvSpPr>
          <p:cNvPr id="213" name="c1_02_title"/>
          <p:cNvSpPr/>
          <p:nvPr/>
        </p:nvSpPr>
        <p:spPr>
          <a:xfrm>
            <a:off x="959760" y="1734864"/>
            <a:ext cx="338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332"/>
                </a:solidFill>
                <a:latin typeface="Calibri"/>
              </a:rPr>
              <a:t>AI-Powered Root Cause Analysis</a:t>
            </a:r>
          </a:p>
        </p:txBody>
      </p:sp>
      <p:sp>
        <p:nvSpPr>
          <p:cNvPr id="214" name="c1_02_sub"/>
          <p:cNvSpPr/>
          <p:nvPr/>
        </p:nvSpPr>
        <p:spPr>
          <a:xfrm>
            <a:off x="959760" y="2018328"/>
            <a:ext cx="338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Calibri"/>
              </a:rPr>
              <a:t>Multi-system incident investigation &amp; prevention</a:t>
            </a:r>
          </a:p>
        </p:txBody>
      </p:sp>
      <p:sp>
        <p:nvSpPr>
          <p:cNvPr id="220" name="c1_03_bg"/>
          <p:cNvSpPr/>
          <p:nvPr/>
        </p:nvSpPr>
        <p:spPr>
          <a:xfrm>
            <a:off x="228600" y="2380000"/>
            <a:ext cx="4115880" cy="640080"/>
          </a:xfrm>
          <a:prstGeom prst="rect">
            <a:avLst/>
          </a:prstGeom>
          <a:solidFill>
            <a:srgbClr val="EAF2FA"/>
          </a:solidFill>
          <a:ln w="1270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1" name="c1_03_num_bg"/>
          <p:cNvSpPr/>
          <p:nvPr/>
        </p:nvSpPr>
        <p:spPr>
          <a:xfrm>
            <a:off x="228600" y="2380000"/>
            <a:ext cx="594360" cy="6400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c1_03_num"/>
          <p:cNvSpPr/>
          <p:nvPr/>
        </p:nvSpPr>
        <p:spPr>
          <a:xfrm>
            <a:off x="228600" y="2498872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D7A6E"/>
                </a:solidFill>
                <a:latin typeface="Calibri"/>
              </a:rPr>
              <a:t>03</a:t>
            </a:r>
          </a:p>
        </p:txBody>
      </p:sp>
      <p:sp>
        <p:nvSpPr>
          <p:cNvPr id="223" name="c1_03_title"/>
          <p:cNvSpPr/>
          <p:nvPr/>
        </p:nvSpPr>
        <p:spPr>
          <a:xfrm>
            <a:off x="959760" y="2434864"/>
            <a:ext cx="338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332"/>
                </a:solidFill>
                <a:latin typeface="Calibri"/>
              </a:rPr>
              <a:t>Voice AI Suite for Caregivers &amp; Residents</a:t>
            </a:r>
          </a:p>
        </p:txBody>
      </p:sp>
      <p:sp>
        <p:nvSpPr>
          <p:cNvPr id="224" name="c1_03_sub"/>
          <p:cNvSpPr/>
          <p:nvPr/>
        </p:nvSpPr>
        <p:spPr>
          <a:xfrm>
            <a:off x="959760" y="2718328"/>
            <a:ext cx="338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Calibri"/>
              </a:rPr>
              <a:t>Wellness check-ins, meal preferences, service tickets &amp; more</a:t>
            </a:r>
          </a:p>
        </p:txBody>
      </p:sp>
      <p:sp>
        <p:nvSpPr>
          <p:cNvPr id="230" name="c1_04_bg"/>
          <p:cNvSpPr/>
          <p:nvPr/>
        </p:nvSpPr>
        <p:spPr>
          <a:xfrm>
            <a:off x="228600" y="3080000"/>
            <a:ext cx="4115880" cy="640080"/>
          </a:xfrm>
          <a:prstGeom prst="rect">
            <a:avLst/>
          </a:prstGeom>
          <a:solidFill>
            <a:srgbClr val="E8F5F3"/>
          </a:solidFill>
          <a:ln w="12700">
            <a:solidFill>
              <a:srgbClr val="C0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1" name="c1_04_num_bg"/>
          <p:cNvSpPr/>
          <p:nvPr/>
        </p:nvSpPr>
        <p:spPr>
          <a:xfrm>
            <a:off x="228600" y="3080000"/>
            <a:ext cx="594360" cy="6400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c1_04_num"/>
          <p:cNvSpPr/>
          <p:nvPr/>
        </p:nvSpPr>
        <p:spPr>
          <a:xfrm>
            <a:off x="228600" y="3198872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D7A6E"/>
                </a:solidFill>
                <a:latin typeface="Calibri"/>
              </a:rPr>
              <a:t>04</a:t>
            </a:r>
          </a:p>
        </p:txBody>
      </p:sp>
      <p:sp>
        <p:nvSpPr>
          <p:cNvPr id="233" name="c1_04_title"/>
          <p:cNvSpPr/>
          <p:nvPr/>
        </p:nvSpPr>
        <p:spPr>
          <a:xfrm>
            <a:off x="959760" y="3134864"/>
            <a:ext cx="338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332"/>
                </a:solidFill>
                <a:latin typeface="Calibri"/>
              </a:rPr>
              <a:t>Concierge AI Agent (MS Teams Copilot)</a:t>
            </a:r>
          </a:p>
        </p:txBody>
      </p:sp>
      <p:sp>
        <p:nvSpPr>
          <p:cNvPr id="234" name="c1_04_sub"/>
          <p:cNvSpPr/>
          <p:nvPr/>
        </p:nvSpPr>
        <p:spPr>
          <a:xfrm>
            <a:off x="959760" y="3418328"/>
            <a:ext cx="338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Calibri"/>
              </a:rPr>
              <a:t>Knowledge base access &amp; staff collaboration for concierge teams</a:t>
            </a:r>
          </a:p>
        </p:txBody>
      </p:sp>
      <p:sp>
        <p:nvSpPr>
          <p:cNvPr id="300" name="c2_05_bg"/>
          <p:cNvSpPr/>
          <p:nvPr/>
        </p:nvSpPr>
        <p:spPr>
          <a:xfrm>
            <a:off x="4800000" y="980000"/>
            <a:ext cx="4115880" cy="640080"/>
          </a:xfrm>
          <a:prstGeom prst="rect">
            <a:avLst/>
          </a:prstGeom>
          <a:solidFill>
            <a:srgbClr val="EAF2FA"/>
          </a:solidFill>
          <a:ln w="1270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1" name="c2_05_num_bg"/>
          <p:cNvSpPr/>
          <p:nvPr/>
        </p:nvSpPr>
        <p:spPr>
          <a:xfrm>
            <a:off x="4800000" y="980000"/>
            <a:ext cx="594360" cy="6400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2" name="c2_05_num"/>
          <p:cNvSpPr/>
          <p:nvPr/>
        </p:nvSpPr>
        <p:spPr>
          <a:xfrm>
            <a:off x="4800000" y="1098872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D7A6E"/>
                </a:solidFill>
                <a:latin typeface="Calibri"/>
              </a:rPr>
              <a:t>05</a:t>
            </a:r>
          </a:p>
        </p:txBody>
      </p:sp>
      <p:sp>
        <p:nvSpPr>
          <p:cNvPr id="303" name="c2_05_title"/>
          <p:cNvSpPr/>
          <p:nvPr/>
        </p:nvSpPr>
        <p:spPr>
          <a:xfrm>
            <a:off x="5531160" y="1034864"/>
            <a:ext cx="338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332"/>
                </a:solidFill>
                <a:latin typeface="Calibri"/>
              </a:rPr>
              <a:t>AI-Powered Newsletter Generator</a:t>
            </a:r>
          </a:p>
        </p:txBody>
      </p:sp>
      <p:sp>
        <p:nvSpPr>
          <p:cNvPr id="304" name="c2_05_sub"/>
          <p:cNvSpPr/>
          <p:nvPr/>
        </p:nvSpPr>
        <p:spPr>
          <a:xfrm>
            <a:off x="5531160" y="1318328"/>
            <a:ext cx="338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Calibri"/>
              </a:rPr>
              <a:t>Automated topic monitoring, filtering, summarization &amp; email delivery</a:t>
            </a:r>
          </a:p>
        </p:txBody>
      </p:sp>
      <p:sp>
        <p:nvSpPr>
          <p:cNvPr id="310" name="c2_06_bg"/>
          <p:cNvSpPr/>
          <p:nvPr/>
        </p:nvSpPr>
        <p:spPr>
          <a:xfrm>
            <a:off x="4800000" y="1680000"/>
            <a:ext cx="4115880" cy="640080"/>
          </a:xfrm>
          <a:prstGeom prst="rect">
            <a:avLst/>
          </a:prstGeom>
          <a:solidFill>
            <a:srgbClr val="E8F5F3"/>
          </a:solidFill>
          <a:ln w="12700">
            <a:solidFill>
              <a:srgbClr val="C0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1" name="c2_06_num_bg"/>
          <p:cNvSpPr/>
          <p:nvPr/>
        </p:nvSpPr>
        <p:spPr>
          <a:xfrm>
            <a:off x="4800000" y="1680000"/>
            <a:ext cx="594360" cy="6400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2" name="c2_06_num"/>
          <p:cNvSpPr/>
          <p:nvPr/>
        </p:nvSpPr>
        <p:spPr>
          <a:xfrm>
            <a:off x="4800000" y="1798872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D7A6E"/>
                </a:solidFill>
                <a:latin typeface="Calibri"/>
              </a:rPr>
              <a:t>06</a:t>
            </a:r>
          </a:p>
        </p:txBody>
      </p:sp>
      <p:sp>
        <p:nvSpPr>
          <p:cNvPr id="313" name="c2_06_title"/>
          <p:cNvSpPr/>
          <p:nvPr/>
        </p:nvSpPr>
        <p:spPr>
          <a:xfrm>
            <a:off x="5531160" y="1734864"/>
            <a:ext cx="338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332"/>
                </a:solidFill>
                <a:latin typeface="Calibri"/>
              </a:rPr>
              <a:t>PRS Financial Review</a:t>
            </a:r>
          </a:p>
        </p:txBody>
      </p:sp>
      <p:sp>
        <p:nvSpPr>
          <p:cNvPr id="314" name="c2_06_sub"/>
          <p:cNvSpPr/>
          <p:nvPr/>
        </p:nvSpPr>
        <p:spPr>
          <a:xfrm>
            <a:off x="5531160" y="2018328"/>
            <a:ext cx="338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Calibri"/>
              </a:rPr>
              <a:t>AI-enhanced prospect financial qualification &amp; year-by-year projection</a:t>
            </a:r>
          </a:p>
        </p:txBody>
      </p:sp>
      <p:sp>
        <p:nvSpPr>
          <p:cNvPr id="320" name="c2_07_bg"/>
          <p:cNvSpPr/>
          <p:nvPr/>
        </p:nvSpPr>
        <p:spPr>
          <a:xfrm>
            <a:off x="4800000" y="2380000"/>
            <a:ext cx="4115880" cy="640080"/>
          </a:xfrm>
          <a:prstGeom prst="rect">
            <a:avLst/>
          </a:prstGeom>
          <a:solidFill>
            <a:srgbClr val="EAF2FA"/>
          </a:solidFill>
          <a:ln w="1270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1" name="c2_07_num_bg"/>
          <p:cNvSpPr/>
          <p:nvPr/>
        </p:nvSpPr>
        <p:spPr>
          <a:xfrm>
            <a:off x="4800000" y="2380000"/>
            <a:ext cx="594360" cy="6400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2" name="c2_07_num"/>
          <p:cNvSpPr/>
          <p:nvPr/>
        </p:nvSpPr>
        <p:spPr>
          <a:xfrm>
            <a:off x="4800000" y="2498872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D7A6E"/>
                </a:solidFill>
                <a:latin typeface="Calibri"/>
              </a:rPr>
              <a:t>07</a:t>
            </a:r>
          </a:p>
        </p:txBody>
      </p:sp>
      <p:sp>
        <p:nvSpPr>
          <p:cNvPr id="323" name="c2_07_title"/>
          <p:cNvSpPr/>
          <p:nvPr/>
        </p:nvSpPr>
        <p:spPr>
          <a:xfrm>
            <a:off x="5531160" y="2434864"/>
            <a:ext cx="338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332"/>
                </a:solidFill>
                <a:latin typeface="Calibri"/>
              </a:rPr>
              <a:t>Holleran Survey Automation</a:t>
            </a:r>
          </a:p>
        </p:txBody>
      </p:sp>
      <p:sp>
        <p:nvSpPr>
          <p:cNvPr id="324" name="c2_07_sub"/>
          <p:cNvSpPr/>
          <p:nvPr/>
        </p:nvSpPr>
        <p:spPr>
          <a:xfrm>
            <a:off x="5531160" y="2718328"/>
            <a:ext cx="338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Calibri"/>
              </a:rPr>
              <a:t>Vision AI powered automated analysis of paper-based resident surveys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A6E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5C52"/>
          </a:solidFill>
          <a:ln w="12700" cap="flat" cmpd="sng">
            <a:solidFill>
              <a:srgbClr val="0A5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6459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20040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USE CASE 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200400" y="1828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 Management Agent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Intelligent contract processing, tracking &amp; compliance automation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3200400" y="3154680"/>
            <a:ext cx="3657600" cy="0"/>
          </a:xfrm>
          <a:prstGeom prst="straightConnector1">
            <a:avLst/>
          </a:prstGeom>
          <a:noFill/>
          <a:ln w="19050" cap="flat" cmpd="sng">
            <a:solidFill>
              <a:srgbClr val="C8F0E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645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822960" y="10972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Contract Management Agent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22960" y="5212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Intelligent Contract Processing &amp; Monitoring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28600" y="1051560"/>
            <a:ext cx="8686800" cy="56692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28600" y="1051560"/>
            <a:ext cx="109728" cy="56692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38912" y="109728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Contracts are stored across folders, emails and shared drives — key dates are missed and compliance gaps go undetected.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28600" y="1737360"/>
            <a:ext cx="2697480" cy="320040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B8D4E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228600" y="1737360"/>
            <a:ext cx="269748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38328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Changes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38328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Extract key data from contracts automatically using Document AI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Centralize all contracts in a single searchable repository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Track expiry dates, renewal windows &amp; compliance obligations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Auto-alert relevant staff before critical deadlines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Flag missing clauses or anomalies via rule-based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Generate contract summaries on demand using LLM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090672" y="1737360"/>
            <a:ext cx="2697480" cy="320040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090672" y="1737360"/>
            <a:ext cx="26974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200400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200400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Zero manual data entry for contract intake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No missed renewals or lapsed agreements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Centralized visibility across all communities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Proactive compliance management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Significant staff time savings on admin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952744" y="1737360"/>
            <a:ext cx="2697480" cy="3200400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952744" y="1737360"/>
            <a:ext cx="26974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62472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62472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Copilot AI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Automated Workflows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Cloud Storage (SharePoint)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Rule-Based Validation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LLM for summarization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A6E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5C52"/>
          </a:solidFill>
          <a:ln w="12700" cap="flat" cmpd="sng">
            <a:solidFill>
              <a:srgbClr val="0A5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6459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320040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USE CASE 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200400" y="1828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 Analysis Agent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AI-powered multi-system incident investigation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5"/>
          <p:cNvCxnSpPr/>
          <p:nvPr/>
        </p:nvCxnSpPr>
        <p:spPr>
          <a:xfrm>
            <a:off x="3200400" y="3154680"/>
            <a:ext cx="3657600" cy="0"/>
          </a:xfrm>
          <a:prstGeom prst="straightConnector1">
            <a:avLst/>
          </a:prstGeom>
          <a:noFill/>
          <a:ln w="19050" cap="flat" cmpd="sng">
            <a:solidFill>
              <a:srgbClr val="C8F0E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645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822960" y="10972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 Analysis Agent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22960" y="5212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"Why Did This Incident Happen?" — Multi-System AI Investigation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28600" y="1051560"/>
            <a:ext cx="8686800" cy="56692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28600" y="1051560"/>
            <a:ext cx="109728" cy="56692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38912" y="109728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Incident investigations require manual correlation across EMR, staffing logs, sensor data and medication records — slow and often incomplete.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28600" y="1737360"/>
            <a:ext cx="2697480" cy="320040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B8D4E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228600" y="1737360"/>
            <a:ext cx="269748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38328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Changes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38328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Auto-correlate data across EMR, staffing &amp; medication systems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 xml:space="preserve"> clinical events, fall history, staffing levels simultaneously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Identify environmental and contextual risk factors automatically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Generate structured incident report with root cause hypothesis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Proactively flag similar risk patterns before incidents occur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Trend analysis across incidents to uncover systemic issues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090672" y="1737360"/>
            <a:ext cx="2697480" cy="320040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090672" y="1737360"/>
            <a:ext cx="26974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200400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200400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Faster, more thorough multi-factor analysis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Actionable prevention strategies from data patterns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Significant reduction in incident recurrence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Reduced documentation burden on clinical staff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Regulatory-ready incident reports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952744" y="1737360"/>
            <a:ext cx="2697480" cy="3200400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952744" y="1737360"/>
            <a:ext cx="26974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062472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062472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Copilot AI</a:t>
            </a:r>
            <a:endParaRPr lang="en-US"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Multi-System Data Correlation (EMR. Risk reporting software)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LLM &amp; RAG (Retrieval Augmented Generation)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Knowledge Graph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A6E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5C52"/>
          </a:solidFill>
          <a:ln w="12700" cap="flat" cmpd="sng">
            <a:solidFill>
              <a:srgbClr val="0A5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6459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320040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USE CASE 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200400" y="1828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 AI Suite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Six intelligent voice-powered use cases across resident care &amp; operations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7"/>
          <p:cNvCxnSpPr/>
          <p:nvPr/>
        </p:nvCxnSpPr>
        <p:spPr>
          <a:xfrm>
            <a:off x="3200400" y="3154680"/>
            <a:ext cx="3657600" cy="0"/>
          </a:xfrm>
          <a:prstGeom prst="straightConnector1">
            <a:avLst/>
          </a:prstGeom>
          <a:noFill/>
          <a:ln w="19050" cap="flat" cmpd="sng">
            <a:solidFill>
              <a:srgbClr val="C8F0E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731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Suite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256032" y="49377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use cases across 4 categories — residents, caregivers, low-vision support &amp; families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164592" y="914400"/>
            <a:ext cx="2084832" cy="4114800"/>
          </a:xfrm>
          <a:prstGeom prst="rect">
            <a:avLst/>
          </a:prstGeom>
          <a:solidFill>
            <a:srgbClr val="0E2535"/>
          </a:solidFill>
          <a:ln w="1905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4592" y="914400"/>
            <a:ext cx="2084832" cy="658368"/>
          </a:xfrm>
          <a:prstGeom prst="rect">
            <a:avLst/>
          </a:prstGeom>
          <a:solidFill>
            <a:srgbClr val="112E3F"/>
          </a:solidFill>
          <a:ln w="12700">
            <a:solidFill>
              <a:srgbClr val="112E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64592" y="914400"/>
            <a:ext cx="2084832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00584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" y="102412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01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685800" y="1033272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Survey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256032" y="164592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"Hey, you visited us — how was your experience? Any pain?"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256032" y="2331720"/>
            <a:ext cx="1901952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2450592"/>
            <a:ext cx="1901952" cy="749808"/>
          </a:xfrm>
          <a:prstGeom prst="rect">
            <a:avLst/>
          </a:prstGeom>
          <a:solidFill>
            <a:srgbClr val="0D1F33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96896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7512" y="2505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Feedback</a:t>
            </a:r>
            <a:endParaRPr lang="en-US" sz="950"/>
          </a:p>
        </p:txBody>
      </p:sp>
      <p:sp>
        <p:nvSpPr>
          <p:cNvPr id="18" name="Text 15"/>
          <p:cNvSpPr/>
          <p:nvPr/>
        </p:nvSpPr>
        <p:spPr>
          <a:xfrm>
            <a:off x="667512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Post-visit health &amp; satisfaction check-in</a:t>
            </a:r>
            <a:endParaRPr lang="en-US" sz="800"/>
          </a:p>
        </p:txBody>
      </p:sp>
      <p:sp>
        <p:nvSpPr>
          <p:cNvPr id="19" name="Shape 16"/>
          <p:cNvSpPr/>
          <p:nvPr/>
        </p:nvSpPr>
        <p:spPr>
          <a:xfrm>
            <a:off x="256032" y="3291840"/>
            <a:ext cx="1901952" cy="749808"/>
          </a:xfrm>
          <a:prstGeom prst="rect">
            <a:avLst/>
          </a:prstGeom>
          <a:solidFill>
            <a:srgbClr val="0D1F33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38144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7512" y="3373493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Resident </a:t>
            </a: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Wellness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Check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67512" y="3621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 meal selection via voice</a:t>
            </a:r>
            <a:endParaRPr lang="en-US" sz="800"/>
          </a:p>
        </p:txBody>
      </p:sp>
      <p:sp>
        <p:nvSpPr>
          <p:cNvPr id="23" name="Shape 19"/>
          <p:cNvSpPr/>
          <p:nvPr/>
        </p:nvSpPr>
        <p:spPr>
          <a:xfrm>
            <a:off x="2446020" y="914400"/>
            <a:ext cx="2084832" cy="4114800"/>
          </a:xfrm>
          <a:prstGeom prst="rect">
            <a:avLst/>
          </a:prstGeom>
          <a:solidFill>
            <a:srgbClr val="0C2030"/>
          </a:solidFill>
          <a:ln w="19050">
            <a:solidFill>
              <a:srgbClr val="4A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2446020" y="914400"/>
            <a:ext cx="2084832" cy="658368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2446020" y="914400"/>
            <a:ext cx="2084832" cy="64008"/>
          </a:xfrm>
          <a:prstGeom prst="rect">
            <a:avLst/>
          </a:prstGeom>
          <a:solidFill>
            <a:srgbClr val="4A8FA8"/>
          </a:solidFill>
          <a:ln w="12700">
            <a:solidFill>
              <a:srgbClr val="4A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2537460" y="1005840"/>
            <a:ext cx="347472" cy="347472"/>
          </a:xfrm>
          <a:prstGeom prst="ellipse">
            <a:avLst/>
          </a:prstGeom>
          <a:solidFill>
            <a:srgbClr val="4A8FA8"/>
          </a:solidFill>
          <a:ln w="12700">
            <a:solidFill>
              <a:srgbClr val="4A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2537460" y="102412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02</a:t>
            </a:r>
            <a:endParaRPr lang="en-US" sz="900"/>
          </a:p>
        </p:txBody>
      </p:sp>
      <p:sp>
        <p:nvSpPr>
          <p:cNvPr id="28" name="Text 24"/>
          <p:cNvSpPr/>
          <p:nvPr/>
        </p:nvSpPr>
        <p:spPr>
          <a:xfrm>
            <a:off x="2967228" y="1033272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Survey</a:t>
            </a:r>
            <a:endParaRPr lang="en-US" sz="1150"/>
          </a:p>
        </p:txBody>
      </p:sp>
      <p:sp>
        <p:nvSpPr>
          <p:cNvPr id="29" name="Text 25"/>
          <p:cNvSpPr/>
          <p:nvPr/>
        </p:nvSpPr>
        <p:spPr>
          <a:xfrm>
            <a:off x="2537460" y="164592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"Hey, you work with us — how are you doing today?"</a:t>
            </a:r>
            <a:endParaRPr lang="en-US" sz="850"/>
          </a:p>
        </p:txBody>
      </p:sp>
      <p:sp>
        <p:nvSpPr>
          <p:cNvPr id="30" name="Shape 26"/>
          <p:cNvSpPr/>
          <p:nvPr/>
        </p:nvSpPr>
        <p:spPr>
          <a:xfrm>
            <a:off x="2537460" y="2331720"/>
            <a:ext cx="1901952" cy="0"/>
          </a:xfrm>
          <a:prstGeom prst="line">
            <a:avLst/>
          </a:prstGeom>
          <a:noFill/>
          <a:ln w="9525">
            <a:solidFill>
              <a:srgbClr val="4A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2537460" y="2450592"/>
            <a:ext cx="1901952" cy="749808"/>
          </a:xfrm>
          <a:prstGeom prst="rect">
            <a:avLst/>
          </a:prstGeom>
          <a:solidFill>
            <a:srgbClr val="0D1F33"/>
          </a:solidFill>
          <a:ln w="6350">
            <a:solidFill>
              <a:srgbClr val="4A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2596896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2948940" y="2505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Check</a:t>
            </a:r>
            <a:endParaRPr lang="en-US" sz="950"/>
          </a:p>
        </p:txBody>
      </p:sp>
      <p:sp>
        <p:nvSpPr>
          <p:cNvPr id="34" name="Text 29"/>
          <p:cNvSpPr/>
          <p:nvPr/>
        </p:nvSpPr>
        <p:spPr>
          <a:xfrm>
            <a:off x="2948940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Stress, fatigue &amp; morale pulse check after shift</a:t>
            </a:r>
            <a:endParaRPr lang="en-US" sz="800"/>
          </a:p>
        </p:txBody>
      </p:sp>
      <p:sp>
        <p:nvSpPr>
          <p:cNvPr id="35" name="Shape 30"/>
          <p:cNvSpPr/>
          <p:nvPr/>
        </p:nvSpPr>
        <p:spPr>
          <a:xfrm>
            <a:off x="4727448" y="914400"/>
            <a:ext cx="2084832" cy="4114800"/>
          </a:xfrm>
          <a:prstGeom prst="rect">
            <a:avLst/>
          </a:prstGeom>
          <a:solidFill>
            <a:srgbClr val="0D2233"/>
          </a:solidFill>
          <a:ln w="19050">
            <a:solidFill>
              <a:srgbClr val="5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4727448" y="914400"/>
            <a:ext cx="2084832" cy="658368"/>
          </a:xfrm>
          <a:prstGeom prst="rect">
            <a:avLst/>
          </a:prstGeom>
          <a:solidFill>
            <a:srgbClr val="112A3E"/>
          </a:solidFill>
          <a:ln w="12700">
            <a:solidFill>
              <a:srgbClr val="112A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4727448" y="914400"/>
            <a:ext cx="2084832" cy="64008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3"/>
          <p:cNvSpPr/>
          <p:nvPr/>
        </p:nvSpPr>
        <p:spPr>
          <a:xfrm>
            <a:off x="4818888" y="1005840"/>
            <a:ext cx="347472" cy="347472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4"/>
          <p:cNvSpPr/>
          <p:nvPr/>
        </p:nvSpPr>
        <p:spPr>
          <a:xfrm>
            <a:off x="4818888" y="102412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03</a:t>
            </a:r>
            <a:endParaRPr lang="en-US" sz="900"/>
          </a:p>
        </p:txBody>
      </p:sp>
      <p:sp>
        <p:nvSpPr>
          <p:cNvPr id="40" name="Text 35"/>
          <p:cNvSpPr/>
          <p:nvPr/>
        </p:nvSpPr>
        <p:spPr>
          <a:xfrm>
            <a:off x="5248656" y="1033272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Vision Support</a:t>
            </a:r>
            <a:endParaRPr lang="en-US" sz="1150"/>
          </a:p>
        </p:txBody>
      </p:sp>
      <p:sp>
        <p:nvSpPr>
          <p:cNvPr id="41" name="Text 36"/>
          <p:cNvSpPr/>
          <p:nvPr/>
        </p:nvSpPr>
        <p:spPr>
          <a:xfrm>
            <a:off x="4818888" y="164592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on the menu? Log a ticket for AC. When's the grocery visit?"</a:t>
            </a:r>
            <a:endParaRPr lang="en-US" sz="850"/>
          </a:p>
        </p:txBody>
      </p:sp>
      <p:sp>
        <p:nvSpPr>
          <p:cNvPr id="42" name="Shape 37"/>
          <p:cNvSpPr/>
          <p:nvPr/>
        </p:nvSpPr>
        <p:spPr>
          <a:xfrm>
            <a:off x="4818888" y="2331720"/>
            <a:ext cx="1901952" cy="0"/>
          </a:xfrm>
          <a:prstGeom prst="line">
            <a:avLst/>
          </a:prstGeom>
          <a:noFill/>
          <a:ln w="9525">
            <a:solidFill>
              <a:srgbClr val="5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8"/>
          <p:cNvSpPr/>
          <p:nvPr/>
        </p:nvSpPr>
        <p:spPr>
          <a:xfrm>
            <a:off x="4818888" y="2450592"/>
            <a:ext cx="1901952" cy="749808"/>
          </a:xfrm>
          <a:prstGeom prst="rect">
            <a:avLst/>
          </a:prstGeom>
          <a:solidFill>
            <a:srgbClr val="0D1F33"/>
          </a:solidFill>
          <a:ln w="6350">
            <a:solidFill>
              <a:srgbClr val="5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2596896"/>
            <a:ext cx="274320" cy="27432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230368" y="2505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Enquiry</a:t>
            </a:r>
            <a:endParaRPr lang="en-US" sz="950"/>
          </a:p>
        </p:txBody>
      </p:sp>
      <p:sp>
        <p:nvSpPr>
          <p:cNvPr id="46" name="Text 40"/>
          <p:cNvSpPr/>
          <p:nvPr/>
        </p:nvSpPr>
        <p:spPr>
          <a:xfrm>
            <a:off x="5230368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 for tomorrow's menu options</a:t>
            </a:r>
            <a:endParaRPr lang="en-US" sz="800"/>
          </a:p>
        </p:txBody>
      </p:sp>
      <p:sp>
        <p:nvSpPr>
          <p:cNvPr id="47" name="Shape 41"/>
          <p:cNvSpPr/>
          <p:nvPr/>
        </p:nvSpPr>
        <p:spPr>
          <a:xfrm>
            <a:off x="4818888" y="3291840"/>
            <a:ext cx="1901952" cy="749808"/>
          </a:xfrm>
          <a:prstGeom prst="rect">
            <a:avLst/>
          </a:prstGeom>
          <a:solidFill>
            <a:srgbClr val="0D1F33"/>
          </a:solidFill>
          <a:ln w="6350">
            <a:solidFill>
              <a:srgbClr val="5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3438144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230368" y="33467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Ticket</a:t>
            </a:r>
            <a:endParaRPr lang="en-US" sz="950"/>
          </a:p>
        </p:txBody>
      </p:sp>
      <p:sp>
        <p:nvSpPr>
          <p:cNvPr id="50" name="Text 43"/>
          <p:cNvSpPr/>
          <p:nvPr/>
        </p:nvSpPr>
        <p:spPr>
          <a:xfrm>
            <a:off x="5230368" y="3621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maintenance requests hands-free</a:t>
            </a:r>
            <a:endParaRPr lang="en-US" sz="800"/>
          </a:p>
        </p:txBody>
      </p:sp>
      <p:sp>
        <p:nvSpPr>
          <p:cNvPr id="51" name="Shape 44"/>
          <p:cNvSpPr/>
          <p:nvPr/>
        </p:nvSpPr>
        <p:spPr>
          <a:xfrm>
            <a:off x="4818888" y="4133088"/>
            <a:ext cx="1901952" cy="749808"/>
          </a:xfrm>
          <a:prstGeom prst="rect">
            <a:avLst/>
          </a:prstGeom>
          <a:solidFill>
            <a:srgbClr val="0D1F33"/>
          </a:solidFill>
          <a:ln w="6350">
            <a:solidFill>
              <a:srgbClr val="5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4279392"/>
            <a:ext cx="274320" cy="27432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5230368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Visit</a:t>
            </a:r>
            <a:endParaRPr lang="en-US" sz="950"/>
          </a:p>
        </p:txBody>
      </p:sp>
      <p:sp>
        <p:nvSpPr>
          <p:cNvPr id="54" name="Text 46"/>
          <p:cNvSpPr/>
          <p:nvPr/>
        </p:nvSpPr>
        <p:spPr>
          <a:xfrm>
            <a:off x="5230368" y="44622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next grocery trip schedule &amp; add items</a:t>
            </a:r>
            <a:endParaRPr lang="en-US" sz="800"/>
          </a:p>
        </p:txBody>
      </p:sp>
      <p:sp>
        <p:nvSpPr>
          <p:cNvPr id="55" name="Shape 47"/>
          <p:cNvSpPr/>
          <p:nvPr/>
        </p:nvSpPr>
        <p:spPr>
          <a:xfrm>
            <a:off x="7008876" y="914400"/>
            <a:ext cx="2084832" cy="4114800"/>
          </a:xfrm>
          <a:prstGeom prst="rect">
            <a:avLst/>
          </a:prstGeom>
          <a:solidFill>
            <a:srgbClr val="0B1F2E"/>
          </a:solidFill>
          <a:ln w="19050">
            <a:solidFill>
              <a:srgbClr val="3A7D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48"/>
          <p:cNvSpPr/>
          <p:nvPr/>
        </p:nvSpPr>
        <p:spPr>
          <a:xfrm>
            <a:off x="7008876" y="914400"/>
            <a:ext cx="2084832" cy="658368"/>
          </a:xfrm>
          <a:prstGeom prst="rect">
            <a:avLst/>
          </a:prstGeom>
          <a:solidFill>
            <a:srgbClr val="0F2738"/>
          </a:solidFill>
          <a:ln w="12700">
            <a:solidFill>
              <a:srgbClr val="0F27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49"/>
          <p:cNvSpPr/>
          <p:nvPr/>
        </p:nvSpPr>
        <p:spPr>
          <a:xfrm>
            <a:off x="7008876" y="914400"/>
            <a:ext cx="2084832" cy="64008"/>
          </a:xfrm>
          <a:prstGeom prst="rect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0"/>
          <p:cNvSpPr/>
          <p:nvPr/>
        </p:nvSpPr>
        <p:spPr>
          <a:xfrm>
            <a:off x="7100316" y="1005840"/>
            <a:ext cx="347472" cy="347472"/>
          </a:xfrm>
          <a:prstGeom prst="ellipse">
            <a:avLst/>
          </a:prstGeom>
          <a:solidFill>
            <a:srgbClr val="3A7D94"/>
          </a:solidFill>
          <a:ln w="12700">
            <a:solidFill>
              <a:srgbClr val="3A7D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1"/>
          <p:cNvSpPr/>
          <p:nvPr/>
        </p:nvSpPr>
        <p:spPr>
          <a:xfrm>
            <a:off x="7100316" y="102412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04</a:t>
            </a:r>
            <a:endParaRPr lang="en-US" sz="900"/>
          </a:p>
        </p:txBody>
      </p:sp>
      <p:sp>
        <p:nvSpPr>
          <p:cNvPr id="60" name="Text 52"/>
          <p:cNvSpPr/>
          <p:nvPr/>
        </p:nvSpPr>
        <p:spPr>
          <a:xfrm>
            <a:off x="7530084" y="1033272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Check</a:t>
            </a:r>
            <a:endParaRPr lang="en-US" sz="1150"/>
          </a:p>
        </p:txBody>
      </p:sp>
      <p:sp>
        <p:nvSpPr>
          <p:cNvPr id="61" name="Text 53"/>
          <p:cNvSpPr/>
          <p:nvPr/>
        </p:nvSpPr>
        <p:spPr>
          <a:xfrm>
            <a:off x="7100316" y="164592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3A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I'm calling to check on Harold — how is he doing today?"</a:t>
            </a:r>
            <a:endParaRPr lang="en-US" sz="850"/>
          </a:p>
        </p:txBody>
      </p:sp>
      <p:sp>
        <p:nvSpPr>
          <p:cNvPr id="62" name="Shape 54"/>
          <p:cNvSpPr/>
          <p:nvPr/>
        </p:nvSpPr>
        <p:spPr>
          <a:xfrm>
            <a:off x="7100316" y="2331720"/>
            <a:ext cx="1901952" cy="0"/>
          </a:xfrm>
          <a:prstGeom prst="line">
            <a:avLst/>
          </a:prstGeom>
          <a:noFill/>
          <a:ln w="9525">
            <a:solidFill>
              <a:srgbClr val="3A7D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55"/>
          <p:cNvSpPr/>
          <p:nvPr/>
        </p:nvSpPr>
        <p:spPr>
          <a:xfrm>
            <a:off x="7100316" y="2450592"/>
            <a:ext cx="1901952" cy="749808"/>
          </a:xfrm>
          <a:prstGeom prst="rect">
            <a:avLst/>
          </a:prstGeom>
          <a:solidFill>
            <a:srgbClr val="0D1F33"/>
          </a:solidFill>
          <a:ln w="6350">
            <a:solidFill>
              <a:srgbClr val="3A7D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4324" y="2596896"/>
            <a:ext cx="274320" cy="274320"/>
          </a:xfrm>
          <a:prstGeom prst="rect">
            <a:avLst/>
          </a:prstGeom>
        </p:spPr>
      </p:pic>
      <p:sp>
        <p:nvSpPr>
          <p:cNvPr id="65" name="Text 56"/>
          <p:cNvSpPr/>
          <p:nvPr/>
        </p:nvSpPr>
        <p:spPr>
          <a:xfrm>
            <a:off x="7511796" y="2505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Check-up</a:t>
            </a:r>
            <a:endParaRPr lang="en-US" sz="950"/>
          </a:p>
        </p:txBody>
      </p:sp>
      <p:sp>
        <p:nvSpPr>
          <p:cNvPr id="66" name="Text 57"/>
          <p:cNvSpPr/>
          <p:nvPr/>
        </p:nvSpPr>
        <p:spPr>
          <a:xfrm>
            <a:off x="7511796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family call with AI wellness update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/>
          <p:nvPr/>
        </p:nvSpPr>
        <p:spPr>
          <a:xfrm>
            <a:off x="777240" y="914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Post-Visit Feedback via Voice AI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777240" y="50292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Automated Satisfaction Capture After Family &amp; Guest Visits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28600" y="987552"/>
            <a:ext cx="8686800" cy="47548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228600" y="987552"/>
            <a:ext cx="91440" cy="47548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Visit feedback is rarely collected systematically, missing an important quality signal and leaving concerns unaddressed.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228600" y="1572768"/>
            <a:ext cx="4937760" cy="32918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8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228600" y="1572768"/>
            <a:ext cx="493776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47472" y="16184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How It 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47472" y="20299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347472" y="20482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731520" y="20299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Automated voice call placed to resident within hours of a visit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47472" y="253288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347472" y="255117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731520" y="25328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rates experience and shares feedback conversationally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47472" y="303580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347472" y="305409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31520" y="303580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detects sentiment and flags negative feedback for follow-up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47472" y="353872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347472" y="355701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731520" y="353872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Family can receive optional follow-up call for their perspective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47472" y="404164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47472" y="405993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731520" y="404164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Feedback aggregated into satisfaction dashboards by community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47472" y="45445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47472" y="45628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731520" y="45445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Negative sentiment auto-escalates to management for action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303520" y="1572768"/>
            <a:ext cx="3611880" cy="201168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5303520" y="1572768"/>
            <a:ext cx="36118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5422392" y="1618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422392" y="1993392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Consistent post-visit satisfaction data collected automatically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Faster identification and resolution of resident concerns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Improved family engagement and trust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Data-driven continuous quality improvement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303520" y="3703320"/>
            <a:ext cx="3611880" cy="1161288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303520" y="3703320"/>
            <a:ext cx="36118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422392" y="37490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422392" y="41148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Voice AI  ·  Speech-to-Text  ·  NLP  ·  Sentiment Analysis  ·  Power BI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777240" y="914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Resident Wellness Voice Check-in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777240" y="50292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Automated Daily/Weekly Wellness Surveys via Voice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228600" y="987552"/>
            <a:ext cx="8686800" cy="47548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228600" y="987552"/>
            <a:ext cx="91440" cy="47548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Manual wellness rounds are time-consuming and inconsistency leads to missed early warning signs for health deterioration.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228600" y="1572768"/>
            <a:ext cx="4937760" cy="32918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8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228600" y="1572768"/>
            <a:ext cx="493776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347472" y="16184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How It 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47472" y="20299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347472" y="20482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731520" y="20299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places automated daily or weekly wellness call to resident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47472" y="253288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347472" y="255117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31520" y="25328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answers natural language questions about mood, pain, sleep &amp; appetite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47472" y="303580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347472" y="305409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31520" y="303580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Speech is converted to structured health data in real-time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47472" y="353872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47472" y="355701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731520" y="353872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Sentiment &amp; tone analysis flags emotional distress or cognitive changes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47472" y="404164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47472" y="405993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31520" y="404164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Escalation triggered to clinical staff for concerning responses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47472" y="45445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347472" y="45628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31520" y="45445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Trends stored in resident profile for longitudinal tracking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303520" y="1572768"/>
            <a:ext cx="3611880" cy="201168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5303520" y="1572768"/>
            <a:ext cx="36118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5422392" y="1618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422392" y="1993392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Earlier detection of health concerns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Reduced burden on clinical staff for routine check-ins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Consistent wellness monitoring across all residents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Family confidence through transparent care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303520" y="3703320"/>
            <a:ext cx="3611880" cy="1161288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303520" y="3703320"/>
            <a:ext cx="36118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5422392" y="37490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422392" y="41148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Voice AI  ·  Speech-to-Text  ·  NLP  ·  LLM  ·  Sentiment Analysis  ·  E</a:t>
            </a:r>
            <a:r>
              <a:rPr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 Integration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Mental Health &amp; Fatigue Survey</a:t>
            </a:r>
            <a:endParaRPr lang="en-US" sz="2100"/>
          </a:p>
        </p:txBody>
      </p:sp>
      <p:sp>
        <p:nvSpPr>
          <p:cNvPr id="6" name="Text 3"/>
          <p:cNvSpPr/>
          <p:nvPr/>
        </p:nvSpPr>
        <p:spPr>
          <a:xfrm>
            <a:off x="777240" y="5029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BBBD8"/>
                </a:solidFill>
              </a:rPr>
              <a:t>Use Case: Voice AI for Caregiver Stress, Burnout &amp; Wellbeing Monitoring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>
          <a:xfrm>
            <a:off x="228600" y="987552"/>
            <a:ext cx="868680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28600" y="987552"/>
            <a:ext cx="91440" cy="47548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7A5200"/>
                </a:solidFill>
              </a:rPr>
              <a:t>⚠  Challenge: Caregiver burnout and stress go unreported until attrition occurs — traditional surveys are infrequent, impersonal and often ignored.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228600" y="1572768"/>
            <a:ext cx="4937760" cy="3291840"/>
          </a:xfrm>
          <a:prstGeom prst="rect">
            <a:avLst/>
          </a:prstGeom>
          <a:solidFill>
            <a:srgbClr val="EAF2FA"/>
          </a:solidFill>
          <a:ln w="12700">
            <a:solidFill>
              <a:srgbClr val="C0D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28600" y="1572768"/>
            <a:ext cx="4937760" cy="34747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47472" y="16184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⚙  How It Works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347472" y="2029968"/>
            <a:ext cx="292608" cy="29260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47472" y="20482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731520" y="20299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weekly voice check-in (60–90 sec) initiated by AI after shift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>
          <a:xfrm>
            <a:off x="347472" y="2532888"/>
            <a:ext cx="292608" cy="29260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47472" y="255117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8" name="Text 15"/>
          <p:cNvSpPr/>
          <p:nvPr/>
        </p:nvSpPr>
        <p:spPr>
          <a:xfrm>
            <a:off x="731520" y="2532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answers questions on energy levels, stress, workload &amp; morale</a:t>
            </a:r>
            <a:endParaRPr lang="en-US" sz="1050"/>
          </a:p>
        </p:txBody>
      </p:sp>
      <p:sp>
        <p:nvSpPr>
          <p:cNvPr id="19" name="Shape 16"/>
          <p:cNvSpPr/>
          <p:nvPr/>
        </p:nvSpPr>
        <p:spPr>
          <a:xfrm>
            <a:off x="347472" y="3035808"/>
            <a:ext cx="292608" cy="29260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47472" y="305409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21" name="Text 18"/>
          <p:cNvSpPr/>
          <p:nvPr/>
        </p:nvSpPr>
        <p:spPr>
          <a:xfrm>
            <a:off x="731520" y="3035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tone &amp; sentiment analysis detects early burnout signals</a:t>
            </a:r>
            <a:endParaRPr lang="en-US" sz="1050"/>
          </a:p>
        </p:txBody>
      </p:sp>
      <p:sp>
        <p:nvSpPr>
          <p:cNvPr id="22" name="Shape 19"/>
          <p:cNvSpPr/>
          <p:nvPr/>
        </p:nvSpPr>
        <p:spPr>
          <a:xfrm>
            <a:off x="347472" y="3538728"/>
            <a:ext cx="292608" cy="29260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47472" y="35570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731520" y="35387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mode ensures honest and psychologically safe responses</a:t>
            </a:r>
            <a:endParaRPr lang="en-US" sz="1050"/>
          </a:p>
        </p:txBody>
      </p:sp>
      <p:sp>
        <p:nvSpPr>
          <p:cNvPr id="25" name="Shape 22"/>
          <p:cNvSpPr/>
          <p:nvPr/>
        </p:nvSpPr>
        <p:spPr>
          <a:xfrm>
            <a:off x="347472" y="4041648"/>
            <a:ext cx="292608" cy="29260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4747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5</a:t>
            </a:r>
            <a:endParaRPr lang="en-US" sz="900"/>
          </a:p>
        </p:txBody>
      </p:sp>
      <p:sp>
        <p:nvSpPr>
          <p:cNvPr id="27" name="Text 24"/>
          <p:cNvSpPr/>
          <p:nvPr/>
        </p:nvSpPr>
        <p:spPr>
          <a:xfrm>
            <a:off x="731520" y="40416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to HR or management when stress thresholds are breached</a:t>
            </a:r>
            <a:endParaRPr lang="en-US" sz="1050"/>
          </a:p>
        </p:txBody>
      </p:sp>
      <p:sp>
        <p:nvSpPr>
          <p:cNvPr id="28" name="Shape 25"/>
          <p:cNvSpPr/>
          <p:nvPr/>
        </p:nvSpPr>
        <p:spPr>
          <a:xfrm>
            <a:off x="347472" y="4544568"/>
            <a:ext cx="292608" cy="29260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47472" y="45628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6</a:t>
            </a:r>
            <a:endParaRPr lang="en-US" sz="900"/>
          </a:p>
        </p:txBody>
      </p:sp>
      <p:sp>
        <p:nvSpPr>
          <p:cNvPr id="30" name="Text 27"/>
          <p:cNvSpPr/>
          <p:nvPr/>
        </p:nvSpPr>
        <p:spPr>
          <a:xfrm>
            <a:off x="731520" y="45445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trend reports surface team-level fatigue patterns over time</a:t>
            </a:r>
            <a:endParaRPr lang="en-US" sz="1050"/>
          </a:p>
        </p:txBody>
      </p:sp>
      <p:sp>
        <p:nvSpPr>
          <p:cNvPr id="31" name="Shape 28"/>
          <p:cNvSpPr/>
          <p:nvPr/>
        </p:nvSpPr>
        <p:spPr>
          <a:xfrm>
            <a:off x="5303520" y="1572768"/>
            <a:ext cx="3611880" cy="2011680"/>
          </a:xfrm>
          <a:prstGeom prst="rect">
            <a:avLst/>
          </a:prstGeom>
          <a:solidFill>
            <a:srgbClr val="E8F5F3"/>
          </a:solidFill>
          <a:ln w="12700">
            <a:solidFill>
              <a:srgbClr val="A8DD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303520" y="1572768"/>
            <a:ext cx="3611880" cy="347472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422392" y="1618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✓  Outcomes</a:t>
            </a:r>
            <a:endParaRPr lang="en-US" sz="1100"/>
          </a:p>
        </p:txBody>
      </p:sp>
      <p:sp>
        <p:nvSpPr>
          <p:cNvPr id="34" name="Text 31"/>
          <p:cNvSpPr/>
          <p:nvPr/>
        </p:nvSpPr>
        <p:spPr>
          <a:xfrm>
            <a:off x="5422392" y="1993392"/>
            <a:ext cx="338328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Early identification of burnout before attrition occurs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171450" indent="-171450"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Actionable insights on team morale for supervisors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171450" indent="-171450"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Reduced caregiver turnover through proactive intervention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171450" indent="-171450"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Caregiver wellbeing culture backed by data, not guesswork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303520" y="3703320"/>
            <a:ext cx="3611880" cy="1161288"/>
          </a:xfrm>
          <a:prstGeom prst="rect">
            <a:avLst/>
          </a:prstGeom>
          <a:solidFill>
            <a:srgbClr val="FDF6EC"/>
          </a:solidFill>
          <a:ln w="12700">
            <a:solidFill>
              <a:srgbClr val="E8D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5303520" y="3703320"/>
            <a:ext cx="3611880" cy="347472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422392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⚡  Tech Stack</a:t>
            </a:r>
            <a:endParaRPr lang="en-US" sz="1100"/>
          </a:p>
        </p:txBody>
      </p:sp>
      <p:sp>
        <p:nvSpPr>
          <p:cNvPr id="38" name="Text 35"/>
          <p:cNvSpPr/>
          <p:nvPr/>
        </p:nvSpPr>
        <p:spPr>
          <a:xfrm>
            <a:off x="5422392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 ·  Speech-to-Text  ·  NLP  ·  Sentiment Analysis  ·  LLM  ·  Anonymous Feedback Engine  ·  HR Dashboard Integration</a:t>
            </a:r>
            <a:endParaRPr lang="en-US" sz="1000"/>
          </a:p>
        </p:txBody>
      </p:sp>
      <p:sp>
        <p:nvSpPr>
          <p:cNvPr id="39" name="Text 36"/>
          <p:cNvSpPr/>
          <p:nvPr/>
        </p:nvSpPr>
        <p:spPr>
          <a:xfrm>
            <a:off x="813816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3557"/>
                </a:solidFill>
              </a:rPr>
              <a:t>Nu</a:t>
            </a:r>
            <a:r>
              <a:rPr lang="en-US" sz="1000" b="1">
                <a:solidFill>
                  <a:srgbClr val="0D7A6E"/>
                </a:solidFill>
              </a:rPr>
              <a:t>Alg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79076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/>
          <p:nvPr/>
        </p:nvSpPr>
        <p:spPr>
          <a:xfrm>
            <a:off x="777240" y="914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Voice-Based Meal Preference Selection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77240" y="50292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Voice AI Replacing Paper Menus for Meal &amp; Dietary Preferences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28600" y="987552"/>
            <a:ext cx="8686800" cy="47548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228600" y="987552"/>
            <a:ext cx="91440" cy="47548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Paper menus and manual entry create delays, errors and poor accommodation of individual dietary needs and preferences.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228600" y="1572768"/>
            <a:ext cx="4937760" cy="32918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8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228600" y="1572768"/>
            <a:ext cx="493776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347472" y="16184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How It 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47472" y="20299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347472" y="20482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31520" y="20299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receives automated voice call before each meal period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47472" y="253288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47472" y="255117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731520" y="25328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presents today's menu options in natural, conversational language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47472" y="303580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347472" y="305409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731520" y="303580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selects meals, portions and any special requests verbally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47472" y="353872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347472" y="355701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731520" y="353872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Preferences are instantly routed to kitchen management system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47472" y="404164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47472" y="405993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31520" y="404164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Dietary restrictions and allergies are cross-checked automatically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47472" y="45445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347472" y="45628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31520" y="45445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Trends in preferences inform menu planning over 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303520" y="1572768"/>
            <a:ext cx="3611880" cy="201168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5303520" y="1572768"/>
            <a:ext cx="36118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422392" y="1618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22392" y="1993392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Reduced meal errors and dietary incidents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Higher resident satisfaction with dining experience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Staff time saved from manual menu collection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Richer data for personalized nutrition planning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303520" y="3703320"/>
            <a:ext cx="3611880" cy="1161288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5303520" y="3703320"/>
            <a:ext cx="36118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5422392" y="37490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5422392" y="41148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Voice AI  ·  Speech-to-Text  ·  NLP  ·  LLM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2" name="Google Shape;35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3"/>
          <p:cNvSpPr/>
          <p:nvPr/>
        </p:nvSpPr>
        <p:spPr>
          <a:xfrm>
            <a:off x="777240" y="914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Voice-Based Service Ticket Raising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777240" y="50292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Residents Raise Maintenance &amp; Service Requests via Voice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228600" y="987552"/>
            <a:ext cx="8686800" cy="47548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228600" y="987552"/>
            <a:ext cx="91440" cy="47548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Residents struggle to navigate physical forms or app-based requests — issues go unreported or are reported inconsistently to different staff members.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228600" y="1572768"/>
            <a:ext cx="4937760" cy="32918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8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228600" y="1572768"/>
            <a:ext cx="493776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347472" y="16184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How It 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347472" y="20299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347472" y="20482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731520" y="20299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calls or activates in-room voice device to report an issue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347472" y="253288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347472" y="255117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731520" y="25328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gathers details: issue type, location, urgency and preferred timing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347472" y="303580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347472" y="305409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731520" y="303580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Ticket is automatically created and categorized in the work order system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347472" y="353872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347472" y="355701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731520" y="353872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Relevant department is notified instantly with priority level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47472" y="404164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347472" y="405993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731520" y="404164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receives voice confirmation with estimated response 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347472" y="45445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347472" y="45628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731520" y="45445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Follow-up call placed once ticket is resolved to confirm satisfaction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5303520" y="1572768"/>
            <a:ext cx="3611880" cy="201168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5303520" y="1572768"/>
            <a:ext cx="36118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5422392" y="1618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5422392" y="1993392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Faster issue reporting and resolution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No issues lost due to verbal-only reporting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empowerment — easy to use regardless of tech literacy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Operational visibility into maintenance and service demand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5303520" y="3703320"/>
            <a:ext cx="3611880" cy="1161288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5303520" y="3703320"/>
            <a:ext cx="36118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5422392" y="37490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5422392" y="41148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Voice AI  ·  Speech-to-Text  ·  NLP  ·  Work Order System Integration  ·  LLM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4"/>
          <p:cNvSpPr/>
          <p:nvPr/>
        </p:nvSpPr>
        <p:spPr>
          <a:xfrm>
            <a:off x="777240" y="914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Voice-Assisted Grocery Ordering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777240" y="50292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Voice AI for Resident Grocery Preferences &amp; Delivery Coordination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228600" y="987552"/>
            <a:ext cx="8686800" cy="47548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228600" y="987552"/>
            <a:ext cx="91440" cy="47548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Grocery shopping coordination for residents is a staff-intensive activity with limited personalization and frequent errors.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228600" y="1572768"/>
            <a:ext cx="4937760" cy="32918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8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228600" y="1572768"/>
            <a:ext cx="493776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347472" y="16184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How It 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347472" y="20299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347472" y="20482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731520" y="20299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speaks grocery preferences and needs via voice call or device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347472" y="253288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347472" y="255117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731520" y="25328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builds a structured shopping list based on spoken requests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347472" y="303580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347472" y="305409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731520" y="303580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Cross-checks against dietary restrictions and care plan guidelines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347472" y="353872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347472" y="355701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731520" y="353872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Consolidates orders across multiple residents for community delivery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347472" y="404164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347472" y="405993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731520" y="404164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Sends order to preferred grocery partner or delivery service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347472" y="45445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347472" y="45628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731520" y="45445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Resident receives voice confirmation of order with estimated delivery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303520" y="1572768"/>
            <a:ext cx="3611880" cy="201168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5303520" y="1572768"/>
            <a:ext cx="36118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5422392" y="1618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5422392" y="1993392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Staff time saved on manual coordination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More personalized and accurate orders for each resident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Reduced errors from manual list-taking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Improved resident independence and dignity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5303520" y="3703320"/>
            <a:ext cx="3611880" cy="1161288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5303520" y="3703320"/>
            <a:ext cx="36118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5422392" y="37490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5422392" y="41148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Voice AI  ·  Speech-to-Text  ·  NLP  ·  LLM  ·  Grocery API Integration  ·  Delivery Workflow Automation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" name="Google Shape;31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/>
          <p:nvPr/>
        </p:nvSpPr>
        <p:spPr>
          <a:xfrm>
            <a:off x="777240" y="914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Family Check-up Calls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777240" y="50292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AI-Powered Voice Updates for Families on Resident Wellbeing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228600" y="987552"/>
            <a:ext cx="8686800" cy="47548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228600" y="987552"/>
            <a:ext cx="91440" cy="47548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Families crave regular updates but staff capacity for routine family calls is limited, leading to anxiety and poor communication.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228600" y="1572768"/>
            <a:ext cx="4937760" cy="32918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8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228600" y="1572768"/>
            <a:ext cx="493776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347472" y="16184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How It 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47472" y="20299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347472" y="20482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731520" y="20299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2332"/>
              </a:buClr>
              <a:buSzPts val="1050"/>
            </a:pPr>
            <a:r>
              <a:rPr lang="en-US" sz="105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bot places scheduled call to designated family member — caller is authenticated via a pre-set family authorization code before any resident information is shared</a:t>
            </a:r>
            <a:endParaRPr lang="en-US" sz="105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347472" y="253288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347472" y="255117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731520" y="25328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0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Only verified family members with a valid auth code receive wellness updates, ensuring resident privacy and data security</a:t>
            </a:r>
            <a:endParaRPr lang="en-US" sz="105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347472" y="303580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347472" y="305409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731520" y="303580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 xml:space="preserve">Answers </a:t>
            </a:r>
            <a:r>
              <a:rPr lang="en-US" sz="10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frequent</a:t>
            </a: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 xml:space="preserve"> questions</a:t>
            </a:r>
            <a:r>
              <a:rPr lang="en-US" sz="105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 xml:space="preserve"> using community knowledge base (RAG)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347472" y="353872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347472" y="355701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731520" y="353872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Flags any significant health or behavioral changes in the call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347472" y="404164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347472" y="405993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731520" y="404164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Multi-language support for diverse family populations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347472" y="4544568"/>
            <a:ext cx="292608" cy="292608"/>
          </a:xfrm>
          <a:prstGeom prst="ellipse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347472" y="4562856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731520" y="45445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Human escalation if family expresses concern or requests staff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5303520" y="1572768"/>
            <a:ext cx="3611880" cy="201168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5303520" y="1572768"/>
            <a:ext cx="36118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5422392" y="1618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422392" y="1993392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Consistent, proactive family communication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Reduced inbound calls to front desk and nursing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Greater family confidence and satisfaction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Early involvement of families in care conversations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303520" y="3703320"/>
            <a:ext cx="3611880" cy="1161288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5303520" y="3703320"/>
            <a:ext cx="36118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5422392" y="37490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422392" y="41148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Voice AI  ·  Speech-to-Text  ·  NLP  ·  LLM  ·  RAG  ·  Multi-language Support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A6E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5C52"/>
          </a:solidFill>
          <a:ln w="12700" cap="flat" cmpd="sng">
            <a:solidFill>
              <a:srgbClr val="0A5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5" name="Google Shape;435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6459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5"/>
          <p:cNvSpPr/>
          <p:nvPr/>
        </p:nvSpPr>
        <p:spPr>
          <a:xfrm>
            <a:off x="320040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USE CASE 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3200400" y="1828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Concierge Agent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Staff knowledge assistant &amp; collaboration hub built on MS Teams Copilot Studio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15"/>
          <p:cNvCxnSpPr/>
          <p:nvPr/>
        </p:nvCxnSpPr>
        <p:spPr>
          <a:xfrm>
            <a:off x="3200400" y="3154680"/>
            <a:ext cx="3657600" cy="0"/>
          </a:xfrm>
          <a:prstGeom prst="straightConnector1">
            <a:avLst/>
          </a:prstGeom>
          <a:noFill/>
          <a:ln w="19050" cap="flat" cmpd="sng">
            <a:solidFill>
              <a:srgbClr val="C8F0E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6264A7"/>
          </a:solidFill>
          <a:ln w="12700" cap="flat" cmpd="sng">
            <a:solidFill>
              <a:srgbClr val="6264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8" name="Google Shape;448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6"/>
          <p:cNvSpPr/>
          <p:nvPr/>
        </p:nvSpPr>
        <p:spPr>
          <a:xfrm>
            <a:off x="777240" y="914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Concierge Agent — MS Teams Copilot Studio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777240" y="50292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Staff Knowledge Assistant &amp; Collaboration Hub embedded in Microsoft Teams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228600" y="987552"/>
            <a:ext cx="8686800" cy="47548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228600" y="987552"/>
            <a:ext cx="91440" cy="47548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Concierge staff rely on scattered knowledge documents, tribal knowledge, and manual handovers, causing delays and inconsistency.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228600" y="1627632"/>
            <a:ext cx="4224528" cy="14630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0E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228600" y="1627632"/>
            <a:ext cx="91440" cy="1463040"/>
          </a:xfrm>
          <a:prstGeom prst="rect">
            <a:avLst/>
          </a:prstGeom>
          <a:solidFill>
            <a:srgbClr val="4567A7"/>
          </a:solidFill>
          <a:ln w="12700" cap="flat" cmpd="sng">
            <a:solidFill>
              <a:srgbClr val="456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429768" y="170078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Knowledge Base Query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429768" y="20299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Staff can ask natural language questions about protocols, visitor policies, emergency procedures, dining schedules and more — instantly surfaced from internal docs.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4617720" y="1627632"/>
            <a:ext cx="4224528" cy="14630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0E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4617720" y="1627632"/>
            <a:ext cx="91440" cy="1463040"/>
          </a:xfrm>
          <a:prstGeom prst="rect">
            <a:avLst/>
          </a:prstGeom>
          <a:solidFill>
            <a:srgbClr val="4567A7"/>
          </a:solidFill>
          <a:ln w="12700" cap="flat" cmpd="sng">
            <a:solidFill>
              <a:srgbClr val="456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4818888" y="170078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Protocol Lookup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4818888" y="20299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Quickly retrieve community SOPs, compliance guidelines, and care protocols right from the Teams chat interface without needing to search shared drives.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228600" y="3273552"/>
            <a:ext cx="4224528" cy="14630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0E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228600" y="3273552"/>
            <a:ext cx="91440" cy="1463040"/>
          </a:xfrm>
          <a:prstGeom prst="rect">
            <a:avLst/>
          </a:prstGeom>
          <a:solidFill>
            <a:srgbClr val="4567A7"/>
          </a:solidFill>
          <a:ln w="12700" cap="flat" cmpd="sng">
            <a:solidFill>
              <a:srgbClr val="456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429768" y="334670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Staff Note Exchange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429768" y="367588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Handover notes between shifts are captured as structured messages in Teams. The agent surfaces relevant notes for incoming staff based on context.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4617720" y="3273552"/>
            <a:ext cx="4224528" cy="146304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C0D0E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4617720" y="3273552"/>
            <a:ext cx="91440" cy="146304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4818888" y="334670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Escalation &amp; Alerts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4818888" y="367588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Automatically flag unresolved resident requests or protocol gaps to supervisors via Teams, ensuring nothing falls through the cracks during shift changes.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228600" y="4773168"/>
            <a:ext cx="8686800" cy="301752"/>
          </a:xfrm>
          <a:prstGeom prst="rect">
            <a:avLst/>
          </a:prstGeom>
          <a:solidFill>
            <a:srgbClr val="6264A7"/>
          </a:solidFill>
          <a:ln w="12700" cap="flat" cmpd="sng">
            <a:solidFill>
              <a:srgbClr val="6264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365760" y="4809744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Tech Stack: Microsoft Copilot Studio  ·  Power Virtual Agents  ·  SharePoint Knowledge Base  ·  MS Teams Integration  ·  RAG  ·  LLM        ✓ Faster staff response  ✓ Consistent knowledge access  ✓ Better shift handovers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5C52"/>
          </a:solidFill>
          <a:ln w="12700">
            <a:solidFill>
              <a:srgbClr val="0A5C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C8F0E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USE CASE 05</a:t>
            </a:r>
          </a:p>
        </p:txBody>
      </p:sp>
      <p:sp>
        <p:nvSpPr>
          <p:cNvPr id="5" name="Text 2"/>
          <p:cNvSpPr/>
          <p:nvPr/>
        </p:nvSpPr>
        <p:spPr>
          <a:xfrm>
            <a:off x="320040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Newsletter Generator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8F0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Automated AI-powered topic monitoring, filtering, summarisation &amp; email delivery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0" y="3154680"/>
            <a:ext cx="3657600" cy="0"/>
          </a:xfrm>
          <a:prstGeom prst="line">
            <a:avLst/>
          </a:prstGeom>
          <a:noFill/>
          <a:ln w="19050">
            <a:solidFill>
              <a:srgbClr val="C8F0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2476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8288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914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AI-Powered Newsletter Generator</a:t>
            </a:r>
            <a:endParaRPr kumimoji="0" lang="en-US" sz="2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4672" y="5212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1" u="none" strike="noStrike" kern="0" cap="none" spc="0" normalizeH="0" baseline="0" noProof="0">
                <a:ln>
                  <a:noFill/>
                </a:ln>
                <a:solidFill>
                  <a:srgbClr val="8BBBD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Use Case: Automated Topic Monitoring, Filtering, Summarisation &amp; Email Delivery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28600" y="965735"/>
            <a:ext cx="868680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28600" y="1005840"/>
            <a:ext cx="91440" cy="47548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1480" y="1002311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>
                <a:ln>
                  <a:noFill/>
                </a:ln>
                <a:solidFill>
                  <a:srgbClr val="7A52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⚠  Challenge: Staying current on fast-moving topics like clinical care, regulation, technology and senior living trends requires constant manual research — time teams don't have.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38363" y="1529133"/>
            <a:ext cx="1591056" cy="3246120"/>
          </a:xfrm>
          <a:prstGeom prst="rect">
            <a:avLst/>
          </a:prstGeom>
          <a:solidFill>
            <a:srgbClr val="EAF2FA"/>
          </a:solidFill>
          <a:ln w="12700">
            <a:solidFill>
              <a:srgbClr val="B8D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38363" y="1529133"/>
            <a:ext cx="1591056" cy="329184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11515" y="1593141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STEP 1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3851" y="1968045"/>
            <a:ext cx="640080" cy="640080"/>
          </a:xfrm>
          <a:prstGeom prst="ellipse">
            <a:avLst/>
          </a:prstGeom>
          <a:solidFill>
            <a:srgbClr val="0D3A5A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79" y="2041197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1515" y="2717853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1A35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Domain Crawl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29803" y="3101901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User provides a list of domains &amp; keywords to track. Serper API queries all sites for new content within a specified date range.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754044" y="3152193"/>
            <a:ext cx="123444" cy="0"/>
          </a:xfrm>
          <a:prstGeom prst="line">
            <a:avLst/>
          </a:prstGeom>
          <a:noFill/>
          <a:ln w="1905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888236" y="1529133"/>
            <a:ext cx="1591056" cy="3246120"/>
          </a:xfrm>
          <a:prstGeom prst="rect">
            <a:avLst/>
          </a:prstGeom>
          <a:solidFill>
            <a:srgbClr val="EAF2FA"/>
          </a:solidFill>
          <a:ln w="12700">
            <a:solidFill>
              <a:srgbClr val="B8D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1888236" y="1529133"/>
            <a:ext cx="1591056" cy="329184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961388" y="1593141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STEP 2</a:t>
            </a:r>
          </a:p>
        </p:txBody>
      </p:sp>
      <p:sp>
        <p:nvSpPr>
          <p:cNvPr id="21" name="Shape 17"/>
          <p:cNvSpPr/>
          <p:nvPr/>
        </p:nvSpPr>
        <p:spPr>
          <a:xfrm>
            <a:off x="2363724" y="1968045"/>
            <a:ext cx="640080" cy="640080"/>
          </a:xfrm>
          <a:prstGeom prst="ellipse">
            <a:avLst/>
          </a:prstGeom>
          <a:solidFill>
            <a:srgbClr val="0D3A5A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452" y="2041197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61388" y="2717853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1A35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AI Filtering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979676" y="3101901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An LLM filtering prompt removes ads, duplicate content, irrelevant articles and low-quality sources from the raw results list.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3513943" y="3152193"/>
            <a:ext cx="123444" cy="0"/>
          </a:xfrm>
          <a:prstGeom prst="line">
            <a:avLst/>
          </a:prstGeom>
          <a:noFill/>
          <a:ln w="1905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3658161" y="1529133"/>
            <a:ext cx="1591056" cy="3246120"/>
          </a:xfrm>
          <a:prstGeom prst="rect">
            <a:avLst/>
          </a:prstGeom>
          <a:solidFill>
            <a:srgbClr val="EAF2FA"/>
          </a:solidFill>
          <a:ln w="12700">
            <a:solidFill>
              <a:srgbClr val="B8D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3658161" y="1529133"/>
            <a:ext cx="1591056" cy="329184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3731313" y="1593141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STEP 3</a:t>
            </a:r>
          </a:p>
        </p:txBody>
      </p:sp>
      <p:sp>
        <p:nvSpPr>
          <p:cNvPr id="29" name="Shape 24"/>
          <p:cNvSpPr/>
          <p:nvPr/>
        </p:nvSpPr>
        <p:spPr>
          <a:xfrm>
            <a:off x="4133649" y="1968045"/>
            <a:ext cx="640080" cy="640080"/>
          </a:xfrm>
          <a:prstGeom prst="ellipse">
            <a:avLst/>
          </a:prstGeom>
          <a:solidFill>
            <a:srgbClr val="0D3A5A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3377" y="2041197"/>
            <a:ext cx="420624" cy="4206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731313" y="2717853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1A355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Summarization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3749601" y="3101901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 second LLM prompt reads each filtered article and produces a concise, plain-language summary preserving key facts and insights.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5283868" y="3152193"/>
            <a:ext cx="123444" cy="0"/>
          </a:xfrm>
          <a:prstGeom prst="line">
            <a:avLst/>
          </a:prstGeom>
          <a:noFill/>
          <a:ln w="1905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5468192" y="1529133"/>
            <a:ext cx="1591056" cy="3246120"/>
          </a:xfrm>
          <a:prstGeom prst="rect">
            <a:avLst/>
          </a:prstGeom>
          <a:solidFill>
            <a:srgbClr val="EAF2FA"/>
          </a:solidFill>
          <a:ln w="12700">
            <a:solidFill>
              <a:srgbClr val="B8D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5468192" y="1529133"/>
            <a:ext cx="1591056" cy="329184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5541344" y="1593141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STEP 4</a:t>
            </a:r>
          </a:p>
        </p:txBody>
      </p:sp>
      <p:sp>
        <p:nvSpPr>
          <p:cNvPr id="37" name="Shape 31"/>
          <p:cNvSpPr/>
          <p:nvPr/>
        </p:nvSpPr>
        <p:spPr>
          <a:xfrm>
            <a:off x="5943680" y="1968045"/>
            <a:ext cx="640080" cy="640080"/>
          </a:xfrm>
          <a:prstGeom prst="ellipse">
            <a:avLst/>
          </a:prstGeom>
          <a:solidFill>
            <a:srgbClr val="0D3A5A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408" y="2041197"/>
            <a:ext cx="420624" cy="42062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541344" y="2717853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1A35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Newsletter Build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5559632" y="3101901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All filtered articles and their summaries are structured into a branded HTML newsletter template, ready for review.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7144031" y="3152193"/>
            <a:ext cx="123444" cy="0"/>
          </a:xfrm>
          <a:prstGeom prst="line">
            <a:avLst/>
          </a:prstGeom>
          <a:noFill/>
          <a:ln w="1905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Shape 35"/>
          <p:cNvSpPr/>
          <p:nvPr/>
        </p:nvSpPr>
        <p:spPr>
          <a:xfrm>
            <a:off x="7338381" y="1529133"/>
            <a:ext cx="1591056" cy="3246120"/>
          </a:xfrm>
          <a:prstGeom prst="rect">
            <a:avLst/>
          </a:prstGeom>
          <a:solidFill>
            <a:srgbClr val="EAF2FA"/>
          </a:solidFill>
          <a:ln w="12700">
            <a:solidFill>
              <a:srgbClr val="B8D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7338381" y="1529133"/>
            <a:ext cx="1591056" cy="329184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7411533" y="1593141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STEP 5</a:t>
            </a:r>
          </a:p>
        </p:txBody>
      </p:sp>
      <p:sp>
        <p:nvSpPr>
          <p:cNvPr id="45" name="Shape 38"/>
          <p:cNvSpPr/>
          <p:nvPr/>
        </p:nvSpPr>
        <p:spPr>
          <a:xfrm>
            <a:off x="7813869" y="1968045"/>
            <a:ext cx="640080" cy="640080"/>
          </a:xfrm>
          <a:prstGeom prst="ellipse">
            <a:avLst/>
          </a:prstGeom>
          <a:solidFill>
            <a:srgbClr val="0D3A5A"/>
          </a:solidFill>
          <a:ln w="12700">
            <a:solidFill>
              <a:srgbClr val="0D7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3597" y="2041197"/>
            <a:ext cx="420624" cy="42062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411533" y="2717853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1A35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Email Delivery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429821" y="3101901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The generated newsletter is automatically dispatched to a configured mailing list — keeping the team informed on schedule.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3" name="Google Shape;470;p16">
            <a:extLst>
              <a:ext uri="{FF2B5EF4-FFF2-40B4-BE49-F238E27FC236}">
                <a16:creationId xmlns:a16="http://schemas.microsoft.com/office/drawing/2014/main" id="{5B45E92C-8F5E-9075-04A8-F7F8A170F256}"/>
              </a:ext>
            </a:extLst>
          </p:cNvPr>
          <p:cNvSpPr/>
          <p:nvPr/>
        </p:nvSpPr>
        <p:spPr>
          <a:xfrm>
            <a:off x="218574" y="4803246"/>
            <a:ext cx="8686800" cy="301752"/>
          </a:xfrm>
          <a:prstGeom prst="rect">
            <a:avLst/>
          </a:prstGeom>
          <a:solidFill>
            <a:srgbClr val="6264A7"/>
          </a:solidFill>
          <a:ln w="12700" cap="flat" cmpd="sng">
            <a:solidFill>
              <a:srgbClr val="6264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" name="Google Shape;471;p16">
            <a:extLst>
              <a:ext uri="{FF2B5EF4-FFF2-40B4-BE49-F238E27FC236}">
                <a16:creationId xmlns:a16="http://schemas.microsoft.com/office/drawing/2014/main" id="{13A6B326-46D1-C42A-7671-847409E9DAB9}"/>
              </a:ext>
            </a:extLst>
          </p:cNvPr>
          <p:cNvSpPr/>
          <p:nvPr/>
        </p:nvSpPr>
        <p:spPr>
          <a:xfrm>
            <a:off x="355734" y="483982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Calibri"/>
                <a:cs typeface="Arial"/>
                <a:sym typeface="Calibri"/>
              </a:rPr>
              <a:t xml:space="preserve">✓ Zero manual research ✓ Always up-to-date on chosen topics ✓ Configurable for any domain — clinical, regulatory, tech, senior living trends · Tech: Serper API ·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Arial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Calibri"/>
                <a:cs typeface="Arial"/>
                <a:sym typeface="Calibri"/>
              </a:rPr>
              <a:t>LLM Filtering &amp; Summarization ·HTML Templates · Email Dispatch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685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A6E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5C52"/>
          </a:solidFill>
          <a:ln w="12700" cap="flat" cmpd="sng">
            <a:solidFill>
              <a:srgbClr val="0A5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6459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20040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USE CASE 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200400" y="1828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PRS Financial Review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AI-enhanced prospect financial qualification &amp; analysis platform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3200400" y="3154680"/>
            <a:ext cx="3657600" cy="0"/>
          </a:xfrm>
          <a:prstGeom prst="straightConnector1">
            <a:avLst/>
          </a:prstGeom>
          <a:noFill/>
          <a:ln w="19050" cap="flat" cmpd="sng">
            <a:solidFill>
              <a:srgbClr val="C8F0E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A6E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5C52"/>
          </a:solidFill>
          <a:ln w="12700" cap="flat" cmpd="sng">
            <a:solidFill>
              <a:srgbClr val="0A5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6459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20040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USE CASE 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200400" y="1828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Holleran Survey Automation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F0E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8F0EA"/>
                </a:solidFill>
                <a:latin typeface="Calibri"/>
                <a:ea typeface="Calibri"/>
                <a:cs typeface="Calibri"/>
                <a:sym typeface="Calibri"/>
              </a:rPr>
              <a:t>Vision AI powered automated analysis of paper-based resident &amp; family surveys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3200400" y="3154680"/>
            <a:ext cx="3657600" cy="0"/>
          </a:xfrm>
          <a:prstGeom prst="straightConnector1">
            <a:avLst/>
          </a:prstGeom>
          <a:noFill/>
          <a:ln w="19050" cap="flat" cmpd="sng">
            <a:solidFill>
              <a:srgbClr val="C8F0E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645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822960" y="10972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PRS Financial Review — AI-Enhanced Prospect Qualification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22960" y="5212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AI-Powered Financial Qualification &amp; Year-by-Year Projection for Senior Living Prospects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28600" y="1051560"/>
            <a:ext cx="8686800" cy="56692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28600" y="1051560"/>
            <a:ext cx="109728" cy="56692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38912" y="109728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Determining whether a prospect can financially sustain senior living costs for life requires complex, time-consuming manual calculations across assets, income, expenses, and life expectancy.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28600" y="1737360"/>
            <a:ext cx="2697480" cy="320040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B8D4E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228600" y="1737360"/>
            <a:ext cx="269748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38328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Changes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38328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runs year-by-year financial projections across all asset classes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Survivability modelling auto-adjusts when one spouse passes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AI-suggested entry &amp; monthly fees from live inventory &amp; pricing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What-If scenario engine lets advisors model alternate financial futures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Auto-qualification: YES / CAUTION / NO colour-coded decisions instantly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SSN encrypted (AES-256-GCM) with audit log for every reveal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090672" y="1737360"/>
            <a:ext cx="2697480" cy="320040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090672" y="1737360"/>
            <a:ext cx="26974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200400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200400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Instant qualification decisions replacing days of manual analysis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Higher confidence in move-in decisions with actuarial-grade projections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Multi-community visibility for Org Admins across entire portfolio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HIPAA-compliant data security with role-based access controls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Dramatic reduction in financial risk from under-qualified residents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952744" y="1737360"/>
            <a:ext cx="2697480" cy="3200400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952744" y="1737360"/>
            <a:ext cx="26974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62472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62472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Analysis Engine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Next.js + PostgreSQL (Supabase)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AES-256-GCM Encryption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Actuarial Life Expectancy Models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645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822960" y="10972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Holleran Survey Automation — Vision AI Analysis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22960" y="5212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BBD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8BBBD8"/>
                </a:solidFill>
                <a:latin typeface="Calibri"/>
                <a:ea typeface="Calibri"/>
                <a:cs typeface="Calibri"/>
                <a:sym typeface="Calibri"/>
              </a:rPr>
              <a:t>Use Case: Automated Digitisation &amp; Analysis of Paper-Based Resident and Family Surveys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28600" y="1051560"/>
            <a:ext cx="8686800" cy="566928"/>
          </a:xfrm>
          <a:prstGeom prst="rect">
            <a:avLst/>
          </a:prstGeom>
          <a:solidFill>
            <a:srgbClr val="FFF3CD"/>
          </a:solidFill>
          <a:ln w="12700" cap="flat" cmpd="sng">
            <a:solidFill>
              <a:srgbClr val="F0C04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28600" y="1051560"/>
            <a:ext cx="109728" cy="566928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38912" y="109728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A5200"/>
                </a:solidFill>
                <a:latin typeface="Calibri"/>
                <a:ea typeface="Calibri"/>
                <a:cs typeface="Calibri"/>
                <a:sym typeface="Calibri"/>
              </a:rPr>
              <a:t>⚠  Challenge: Holleran collects high-value resident and family satisfaction surveys on paper — data entry is manual, slow and error-prone, delaying insights that could improve care quality.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28600" y="1737360"/>
            <a:ext cx="2697480" cy="3200400"/>
          </a:xfrm>
          <a:prstGeom prst="rect">
            <a:avLst/>
          </a:prstGeom>
          <a:solidFill>
            <a:srgbClr val="EAF2FA"/>
          </a:solidFill>
          <a:ln w="12700" cap="flat" cmpd="sng">
            <a:solidFill>
              <a:srgbClr val="B8D4E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228600" y="1737360"/>
            <a:ext cx="2697480" cy="347472"/>
          </a:xfrm>
          <a:prstGeom prst="rect">
            <a:avLst/>
          </a:prstGeom>
          <a:solidFill>
            <a:srgbClr val="1A3557"/>
          </a:solidFill>
          <a:ln w="12700" cap="flat" cmpd="sng">
            <a:solidFill>
              <a:srgbClr val="1A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38328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Changes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38328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Vision AI scans and digitises handwritten paper surveys automatically</a:t>
            </a:r>
            <a:endParaRPr lang="en-US"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NLP extracts sentiment, themes and key concerns from open-ended responses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clusters feedback by category: dining, care, activities, facilities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Trend dashboards surface recurring issues across communities over 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Low-score surveys auto-flagged for immediate staff follow-up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Char char="•"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LLM generates narrative summary reports from raw survey data automatically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090672" y="1737360"/>
            <a:ext cx="2697480" cy="320040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A8DDD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090672" y="1737360"/>
            <a:ext cx="2697480" cy="347472"/>
          </a:xfrm>
          <a:prstGeom prst="rect">
            <a:avLst/>
          </a:prstGeom>
          <a:solidFill>
            <a:srgbClr val="0D7A6E"/>
          </a:solidFill>
          <a:ln w="12700" cap="flat" cmpd="sng">
            <a:solidFill>
              <a:srgbClr val="0D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200400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200400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Near-zero manual data entry — from weeks to hours per survey cycle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Faster time-to-insight enabling proactive service recovery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Consistent, unbiased analysis across all resident feedback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Benchmarking across communities to identify best practices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Higher resident and family satisfaction scores driven by data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952744" y="1737360"/>
            <a:ext cx="2697480" cy="3200400"/>
          </a:xfrm>
          <a:prstGeom prst="rect">
            <a:avLst/>
          </a:prstGeom>
          <a:solidFill>
            <a:srgbClr val="FDF6EC"/>
          </a:solidFill>
          <a:ln w="12700" cap="flat" cmpd="sng">
            <a:solidFill>
              <a:srgbClr val="E8D0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952744" y="1737360"/>
            <a:ext cx="2697480" cy="347472"/>
          </a:xfrm>
          <a:prstGeom prst="rect">
            <a:avLst/>
          </a:prstGeom>
          <a:solidFill>
            <a:srgbClr val="D4820A"/>
          </a:solidFill>
          <a:ln w="12700" cap="flat" cmpd="sng">
            <a:solidFill>
              <a:srgbClr val="D482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62472" y="1783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62472" y="219456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Vision AI / OCR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NLP &amp; Sentiment Analysis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LLM for Report Generation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Clustering &amp; Categorisation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1A2332"/>
              </a:buClr>
              <a:buSzPts val="1050"/>
              <a:buFont typeface="Arial"/>
              <a:buChar char="•"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Trend Dashboard &amp; Alerting</a:t>
            </a:r>
            <a:endParaRPr sz="110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2068</Words>
  <Application>Microsoft Office PowerPoint</Application>
  <PresentationFormat>On-screen Show (16:9)</PresentationFormat>
  <Paragraphs>318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NuAlg</dc:creator>
  <cp:lastModifiedBy>Raj Vatnani</cp:lastModifiedBy>
  <cp:revision>17</cp:revision>
  <dcterms:created xsi:type="dcterms:W3CDTF">2026-03-13T07:15:38Z</dcterms:created>
  <dcterms:modified xsi:type="dcterms:W3CDTF">2026-04-10T07:20:52Z</dcterms:modified>
</cp:coreProperties>
</file>